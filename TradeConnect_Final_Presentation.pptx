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EAE7C-AEC1-731F-9CBD-66A06DE25251}" v="1" dt="2026-05-12T20:47:09.981"/>
    <p1510:client id="{7E48480D-36A2-D102-9B0B-8DF59ABF0103}" v="348" dt="2026-05-12T19:14:38.465"/>
    <p1510:client id="{A5641FFE-F448-5ABE-9C79-92983215AC42}" v="43" dt="2026-05-12T20:47:24.59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351215" y="-1"/>
            <a:ext cx="3840480" cy="146306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10911534" y="0"/>
            <a:ext cx="164593" cy="6858000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Shape 2"/>
          <p:cNvSpPr/>
          <p:nvPr/>
        </p:nvSpPr>
        <p:spPr>
          <a:xfrm>
            <a:off x="11335110" y="145142"/>
            <a:ext cx="64009" cy="6694715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 3"/>
          <p:cNvSpPr txBox="1"/>
          <p:nvPr/>
        </p:nvSpPr>
        <p:spPr>
          <a:xfrm>
            <a:off x="1188719" y="652869"/>
            <a:ext cx="54864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 spc="400">
                <a:solidFill>
                  <a:srgbClr val="FFFFFF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080" y="2276147"/>
            <a:ext cx="9144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800">
                <a:solidFill>
                  <a:srgbClr val="F4B942"/>
                </a:solidFill>
              </a:defRPr>
            </a:lvl1pPr>
          </a:lstStyle>
          <a:p>
            <a:r>
              <a:t>CSC 33600 · FINAL DEMONSTRATION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640080" y="2624582"/>
            <a:ext cx="10515601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400" b="1" spc="-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TradeConnect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640080" y="4250620"/>
            <a:ext cx="96012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E5E1D6"/>
                </a:solidFill>
              </a:defRPr>
            </a:lvl1pPr>
          </a:lstStyle>
          <a:p>
            <a:r>
              <a:t>A two-sided marketplace for employers and tradespeople</a:t>
            </a:r>
            <a:endParaRPr lang="en-US"/>
          </a:p>
        </p:txBody>
      </p:sp>
      <p:sp>
        <p:nvSpPr>
          <p:cNvPr id="28" name="Shape 7"/>
          <p:cNvSpPr/>
          <p:nvPr/>
        </p:nvSpPr>
        <p:spPr>
          <a:xfrm>
            <a:off x="640080" y="5120640"/>
            <a:ext cx="1417320" cy="384049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8"/>
          <p:cNvSpPr txBox="1"/>
          <p:nvPr/>
        </p:nvSpPr>
        <p:spPr>
          <a:xfrm>
            <a:off x="640080" y="5245530"/>
            <a:ext cx="14173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Next.js 14</a:t>
            </a:r>
          </a:p>
        </p:txBody>
      </p:sp>
      <p:sp>
        <p:nvSpPr>
          <p:cNvPr id="30" name="Shape 9"/>
          <p:cNvSpPr/>
          <p:nvPr/>
        </p:nvSpPr>
        <p:spPr>
          <a:xfrm>
            <a:off x="2221992" y="5120640"/>
            <a:ext cx="914401" cy="384049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Text 10"/>
          <p:cNvSpPr txBox="1"/>
          <p:nvPr/>
        </p:nvSpPr>
        <p:spPr>
          <a:xfrm>
            <a:off x="2221992" y="5245530"/>
            <a:ext cx="914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Flask</a:t>
            </a:r>
          </a:p>
        </p:txBody>
      </p:sp>
      <p:sp>
        <p:nvSpPr>
          <p:cNvPr id="32" name="Shape 11"/>
          <p:cNvSpPr/>
          <p:nvPr/>
        </p:nvSpPr>
        <p:spPr>
          <a:xfrm>
            <a:off x="3300984" y="5120640"/>
            <a:ext cx="914401" cy="384049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ext 12"/>
          <p:cNvSpPr txBox="1"/>
          <p:nvPr/>
        </p:nvSpPr>
        <p:spPr>
          <a:xfrm>
            <a:off x="3300984" y="5245530"/>
            <a:ext cx="914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MySQL</a:t>
            </a:r>
          </a:p>
        </p:txBody>
      </p:sp>
      <p:sp>
        <p:nvSpPr>
          <p:cNvPr id="34" name="Shape 13"/>
          <p:cNvSpPr/>
          <p:nvPr/>
        </p:nvSpPr>
        <p:spPr>
          <a:xfrm>
            <a:off x="4379976" y="5120640"/>
            <a:ext cx="1316737" cy="384049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Text 14"/>
          <p:cNvSpPr txBox="1"/>
          <p:nvPr/>
        </p:nvSpPr>
        <p:spPr>
          <a:xfrm>
            <a:off x="4379976" y="5245530"/>
            <a:ext cx="131673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15 Tables</a:t>
            </a:r>
          </a:p>
        </p:txBody>
      </p:sp>
      <p:sp>
        <p:nvSpPr>
          <p:cNvPr id="36" name="Shape 15"/>
          <p:cNvSpPr/>
          <p:nvPr/>
        </p:nvSpPr>
        <p:spPr>
          <a:xfrm>
            <a:off x="5861303" y="5120640"/>
            <a:ext cx="1517905" cy="384049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Text 16"/>
          <p:cNvSpPr txBox="1"/>
          <p:nvPr/>
        </p:nvSpPr>
        <p:spPr>
          <a:xfrm>
            <a:off x="5861303" y="5245530"/>
            <a:ext cx="15179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12 Triggers</a:t>
            </a:r>
          </a:p>
        </p:txBody>
      </p:sp>
      <p:sp>
        <p:nvSpPr>
          <p:cNvPr id="38" name="Shape 17"/>
          <p:cNvSpPr/>
          <p:nvPr/>
        </p:nvSpPr>
        <p:spPr>
          <a:xfrm>
            <a:off x="7543800" y="5120640"/>
            <a:ext cx="713232" cy="384049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Text 18"/>
          <p:cNvSpPr txBox="1"/>
          <p:nvPr/>
        </p:nvSpPr>
        <p:spPr>
          <a:xfrm>
            <a:off x="7543800" y="5245530"/>
            <a:ext cx="7132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</a:defRPr>
            </a:lvl1pPr>
          </a:lstStyle>
          <a:p>
            <a:r>
              <a:t>3NF</a:t>
            </a:r>
          </a:p>
        </p:txBody>
      </p:sp>
      <p:sp>
        <p:nvSpPr>
          <p:cNvPr id="40" name="Shape 19"/>
          <p:cNvSpPr/>
          <p:nvPr/>
        </p:nvSpPr>
        <p:spPr>
          <a:xfrm>
            <a:off x="-1" y="6400800"/>
            <a:ext cx="12191697" cy="457200"/>
          </a:xfrm>
          <a:prstGeom prst="rect">
            <a:avLst/>
          </a:prstGeom>
          <a:solidFill>
            <a:srgbClr val="13315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Text 21"/>
          <p:cNvSpPr txBox="1"/>
          <p:nvPr/>
        </p:nvSpPr>
        <p:spPr>
          <a:xfrm>
            <a:off x="7162495" y="6562266"/>
            <a:ext cx="43891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>
                <a:solidFill>
                  <a:srgbClr val="F4B942"/>
                </a:solidFill>
              </a:defRPr>
            </a:lvl1pPr>
          </a:lstStyle>
          <a:p>
            <a:r>
              <a:t>Final Team Project Demonstration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48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51" name="Text 6"/>
          <p:cNvSpPr txBox="1"/>
          <p:nvPr/>
        </p:nvSpPr>
        <p:spPr>
          <a:xfrm>
            <a:off x="457200" y="883842"/>
            <a:ext cx="10972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t>DEMO WALKTHROUGH</a:t>
            </a:r>
          </a:p>
        </p:txBody>
      </p:sp>
      <p:sp>
        <p:nvSpPr>
          <p:cNvPr id="52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Today's Agenda</a:t>
            </a:r>
          </a:p>
        </p:txBody>
      </p:sp>
      <p:sp>
        <p:nvSpPr>
          <p:cNvPr id="53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Shape 9"/>
          <p:cNvSpPr/>
          <p:nvPr/>
        </p:nvSpPr>
        <p:spPr>
          <a:xfrm>
            <a:off x="640080" y="2011679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10"/>
          <p:cNvSpPr txBox="1"/>
          <p:nvPr/>
        </p:nvSpPr>
        <p:spPr>
          <a:xfrm>
            <a:off x="640080" y="2201925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01</a:t>
            </a:r>
          </a:p>
        </p:txBody>
      </p:sp>
      <p:sp>
        <p:nvSpPr>
          <p:cNvPr id="56" name="Text 11"/>
          <p:cNvSpPr txBox="1"/>
          <p:nvPr/>
        </p:nvSpPr>
        <p:spPr>
          <a:xfrm>
            <a:off x="1371600" y="2063304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Introduction</a:t>
            </a:r>
          </a:p>
        </p:txBody>
      </p:sp>
      <p:sp>
        <p:nvSpPr>
          <p:cNvPr id="57" name="Text 12"/>
          <p:cNvSpPr txBox="1"/>
          <p:nvPr/>
        </p:nvSpPr>
        <p:spPr>
          <a:xfrm>
            <a:off x="1371600" y="2409488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Team, business idea, tech stack, profit model</a:t>
            </a:r>
          </a:p>
        </p:txBody>
      </p:sp>
      <p:sp>
        <p:nvSpPr>
          <p:cNvPr id="58" name="Shape 13"/>
          <p:cNvSpPr/>
          <p:nvPr/>
        </p:nvSpPr>
        <p:spPr>
          <a:xfrm>
            <a:off x="640080" y="2761488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14"/>
          <p:cNvSpPr txBox="1"/>
          <p:nvPr/>
        </p:nvSpPr>
        <p:spPr>
          <a:xfrm>
            <a:off x="640080" y="2951733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02</a:t>
            </a:r>
          </a:p>
        </p:txBody>
      </p:sp>
      <p:sp>
        <p:nvSpPr>
          <p:cNvPr id="60" name="Text 15"/>
          <p:cNvSpPr txBox="1"/>
          <p:nvPr/>
        </p:nvSpPr>
        <p:spPr>
          <a:xfrm>
            <a:off x="1371600" y="2813112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Use Cases &amp; User Journey</a:t>
            </a:r>
          </a:p>
        </p:txBody>
      </p:sp>
      <p:sp>
        <p:nvSpPr>
          <p:cNvPr id="61" name="Text 16"/>
          <p:cNvSpPr txBox="1"/>
          <p:nvPr/>
        </p:nvSpPr>
        <p:spPr>
          <a:xfrm>
            <a:off x="1371600" y="3159296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How employers, tradespeople, and juniors flow through the platform</a:t>
            </a:r>
          </a:p>
        </p:txBody>
      </p:sp>
      <p:sp>
        <p:nvSpPr>
          <p:cNvPr id="62" name="Shape 17"/>
          <p:cNvSpPr/>
          <p:nvPr/>
        </p:nvSpPr>
        <p:spPr>
          <a:xfrm>
            <a:off x="640080" y="3511296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" name="Text 18"/>
          <p:cNvSpPr txBox="1"/>
          <p:nvPr/>
        </p:nvSpPr>
        <p:spPr>
          <a:xfrm>
            <a:off x="640080" y="3701542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03</a:t>
            </a:r>
          </a:p>
        </p:txBody>
      </p:sp>
      <p:sp>
        <p:nvSpPr>
          <p:cNvPr id="64" name="Text 19"/>
          <p:cNvSpPr txBox="1"/>
          <p:nvPr/>
        </p:nvSpPr>
        <p:spPr>
          <a:xfrm>
            <a:off x="1371600" y="3562920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MVP Demo 1 — Job Lifecycle</a:t>
            </a:r>
          </a:p>
        </p:txBody>
      </p:sp>
      <p:sp>
        <p:nvSpPr>
          <p:cNvPr id="65" name="Text 20"/>
          <p:cNvSpPr txBox="1"/>
          <p:nvPr/>
        </p:nvSpPr>
        <p:spPr>
          <a:xfrm>
            <a:off x="1371600" y="3909104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Posting → application → booking auto-creation</a:t>
            </a:r>
          </a:p>
        </p:txBody>
      </p:sp>
      <p:sp>
        <p:nvSpPr>
          <p:cNvPr id="66" name="Shape 21"/>
          <p:cNvSpPr/>
          <p:nvPr/>
        </p:nvSpPr>
        <p:spPr>
          <a:xfrm>
            <a:off x="640080" y="4261103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Text 22"/>
          <p:cNvSpPr txBox="1"/>
          <p:nvPr/>
        </p:nvSpPr>
        <p:spPr>
          <a:xfrm>
            <a:off x="640080" y="4451350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04</a:t>
            </a:r>
          </a:p>
        </p:txBody>
      </p:sp>
      <p:sp>
        <p:nvSpPr>
          <p:cNvPr id="68" name="Text 23"/>
          <p:cNvSpPr txBox="1"/>
          <p:nvPr/>
        </p:nvSpPr>
        <p:spPr>
          <a:xfrm>
            <a:off x="1371600" y="4312728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MVP Demo 2 — Endorsement</a:t>
            </a:r>
          </a:p>
        </p:txBody>
      </p:sp>
      <p:sp>
        <p:nvSpPr>
          <p:cNvPr id="69" name="Text 24"/>
          <p:cNvSpPr txBox="1"/>
          <p:nvPr/>
        </p:nvSpPr>
        <p:spPr>
          <a:xfrm>
            <a:off x="1371600" y="4658912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Junior unlocks job access through senior approval</a:t>
            </a:r>
          </a:p>
        </p:txBody>
      </p:sp>
      <p:sp>
        <p:nvSpPr>
          <p:cNvPr id="70" name="Shape 25"/>
          <p:cNvSpPr/>
          <p:nvPr/>
        </p:nvSpPr>
        <p:spPr>
          <a:xfrm>
            <a:off x="640080" y="5010911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26"/>
          <p:cNvSpPr txBox="1"/>
          <p:nvPr/>
        </p:nvSpPr>
        <p:spPr>
          <a:xfrm>
            <a:off x="640080" y="5201158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05</a:t>
            </a:r>
          </a:p>
        </p:txBody>
      </p:sp>
      <p:sp>
        <p:nvSpPr>
          <p:cNvPr id="72" name="Text 27"/>
          <p:cNvSpPr txBox="1"/>
          <p:nvPr/>
        </p:nvSpPr>
        <p:spPr>
          <a:xfrm>
            <a:off x="1371600" y="5062536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Revenue Stream Reporting</a:t>
            </a:r>
          </a:p>
        </p:txBody>
      </p:sp>
      <p:sp>
        <p:nvSpPr>
          <p:cNvPr id="73" name="Text 28"/>
          <p:cNvSpPr txBox="1"/>
          <p:nvPr/>
        </p:nvSpPr>
        <p:spPr>
          <a:xfrm>
            <a:off x="1371600" y="5408720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Admin dashboard, fee %, totals &amp; breakdown</a:t>
            </a:r>
          </a:p>
        </p:txBody>
      </p:sp>
      <p:sp>
        <p:nvSpPr>
          <p:cNvPr id="74" name="Shape 29"/>
          <p:cNvSpPr/>
          <p:nvPr/>
        </p:nvSpPr>
        <p:spPr>
          <a:xfrm>
            <a:off x="6263640" y="2011679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" name="Text 30"/>
          <p:cNvSpPr txBox="1"/>
          <p:nvPr/>
        </p:nvSpPr>
        <p:spPr>
          <a:xfrm>
            <a:off x="6263640" y="2201925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06</a:t>
            </a:r>
          </a:p>
        </p:txBody>
      </p:sp>
      <p:sp>
        <p:nvSpPr>
          <p:cNvPr id="76" name="Text 31"/>
          <p:cNvSpPr txBox="1"/>
          <p:nvPr/>
        </p:nvSpPr>
        <p:spPr>
          <a:xfrm>
            <a:off x="6995159" y="2063304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Stored Procedures &amp; Triggers</a:t>
            </a:r>
          </a:p>
        </p:txBody>
      </p:sp>
      <p:sp>
        <p:nvSpPr>
          <p:cNvPr id="77" name="Text 32"/>
          <p:cNvSpPr txBox="1"/>
          <p:nvPr/>
        </p:nvSpPr>
        <p:spPr>
          <a:xfrm>
            <a:off x="6995159" y="2409488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Two live trigger demos from MVP flows</a:t>
            </a:r>
          </a:p>
        </p:txBody>
      </p:sp>
      <p:sp>
        <p:nvSpPr>
          <p:cNvPr id="78" name="Shape 33"/>
          <p:cNvSpPr/>
          <p:nvPr/>
        </p:nvSpPr>
        <p:spPr>
          <a:xfrm>
            <a:off x="6263640" y="2761488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34"/>
          <p:cNvSpPr txBox="1"/>
          <p:nvPr/>
        </p:nvSpPr>
        <p:spPr>
          <a:xfrm>
            <a:off x="6263640" y="2951733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07</a:t>
            </a:r>
          </a:p>
        </p:txBody>
      </p:sp>
      <p:sp>
        <p:nvSpPr>
          <p:cNvPr id="80" name="Text 35"/>
          <p:cNvSpPr txBox="1"/>
          <p:nvPr/>
        </p:nvSpPr>
        <p:spPr>
          <a:xfrm>
            <a:off x="6995159" y="2813112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2NF Relational Model</a:t>
            </a:r>
          </a:p>
        </p:txBody>
      </p:sp>
      <p:sp>
        <p:nvSpPr>
          <p:cNvPr id="81" name="Text 36"/>
          <p:cNvSpPr txBox="1"/>
          <p:nvPr/>
        </p:nvSpPr>
        <p:spPr>
          <a:xfrm>
            <a:off x="6995159" y="3159296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Final ERD with all entities and relationships</a:t>
            </a:r>
          </a:p>
        </p:txBody>
      </p:sp>
      <p:sp>
        <p:nvSpPr>
          <p:cNvPr id="82" name="Shape 37"/>
          <p:cNvSpPr/>
          <p:nvPr/>
        </p:nvSpPr>
        <p:spPr>
          <a:xfrm>
            <a:off x="6263640" y="3511296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Text 38"/>
          <p:cNvSpPr txBox="1"/>
          <p:nvPr/>
        </p:nvSpPr>
        <p:spPr>
          <a:xfrm>
            <a:off x="6263640" y="3701542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08</a:t>
            </a:r>
          </a:p>
        </p:txBody>
      </p:sp>
      <p:sp>
        <p:nvSpPr>
          <p:cNvPr id="84" name="Text 39"/>
          <p:cNvSpPr txBox="1"/>
          <p:nvPr/>
        </p:nvSpPr>
        <p:spPr>
          <a:xfrm>
            <a:off x="6995159" y="3562920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Takeaways</a:t>
            </a:r>
          </a:p>
        </p:txBody>
      </p:sp>
      <p:sp>
        <p:nvSpPr>
          <p:cNvPr id="85" name="Text 40"/>
          <p:cNvSpPr txBox="1"/>
          <p:nvPr/>
        </p:nvSpPr>
        <p:spPr>
          <a:xfrm>
            <a:off x="6995159" y="3909104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What we learned about relational databases</a:t>
            </a:r>
          </a:p>
        </p:txBody>
      </p:sp>
      <p:sp>
        <p:nvSpPr>
          <p:cNvPr id="86" name="Shape 41"/>
          <p:cNvSpPr/>
          <p:nvPr/>
        </p:nvSpPr>
        <p:spPr>
          <a:xfrm>
            <a:off x="6263640" y="4261103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Text 42"/>
          <p:cNvSpPr txBox="1"/>
          <p:nvPr/>
        </p:nvSpPr>
        <p:spPr>
          <a:xfrm>
            <a:off x="6263640" y="4451350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09</a:t>
            </a:r>
          </a:p>
        </p:txBody>
      </p:sp>
      <p:sp>
        <p:nvSpPr>
          <p:cNvPr id="88" name="Text 43"/>
          <p:cNvSpPr txBox="1"/>
          <p:nvPr/>
        </p:nvSpPr>
        <p:spPr>
          <a:xfrm>
            <a:off x="6995159" y="4312728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Extra Credit Work</a:t>
            </a:r>
          </a:p>
        </p:txBody>
      </p:sp>
      <p:sp>
        <p:nvSpPr>
          <p:cNvPr id="89" name="Text 44"/>
          <p:cNvSpPr txBox="1"/>
          <p:nvPr/>
        </p:nvSpPr>
        <p:spPr>
          <a:xfrm>
            <a:off x="6995159" y="4658912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Above-spec features we shipped</a:t>
            </a:r>
          </a:p>
        </p:txBody>
      </p:sp>
      <p:sp>
        <p:nvSpPr>
          <p:cNvPr id="90" name="Shape 45"/>
          <p:cNvSpPr/>
          <p:nvPr/>
        </p:nvSpPr>
        <p:spPr>
          <a:xfrm>
            <a:off x="6263640" y="5010911"/>
            <a:ext cx="594361" cy="6217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Text 46"/>
          <p:cNvSpPr txBox="1"/>
          <p:nvPr/>
        </p:nvSpPr>
        <p:spPr>
          <a:xfrm>
            <a:off x="6263640" y="5201158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10</a:t>
            </a:r>
          </a:p>
        </p:txBody>
      </p:sp>
      <p:sp>
        <p:nvSpPr>
          <p:cNvPr id="92" name="Text 47"/>
          <p:cNvSpPr txBox="1"/>
          <p:nvPr/>
        </p:nvSpPr>
        <p:spPr>
          <a:xfrm>
            <a:off x="6995159" y="5062536"/>
            <a:ext cx="4617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Q&amp;A · Submission</a:t>
            </a:r>
          </a:p>
        </p:txBody>
      </p:sp>
      <p:sp>
        <p:nvSpPr>
          <p:cNvPr id="93" name="Text 48"/>
          <p:cNvSpPr txBox="1"/>
          <p:nvPr/>
        </p:nvSpPr>
        <p:spPr>
          <a:xfrm>
            <a:off x="6995159" y="5408720"/>
            <a:ext cx="46177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Discussion and GitHub Classroom hand-in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INTRODUCTION</a:t>
            </a:r>
          </a:p>
        </p:txBody>
      </p:sp>
      <p:sp>
        <p:nvSpPr>
          <p:cNvPr id="99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Introduction</a:t>
            </a:r>
          </a:p>
        </p:txBody>
      </p:sp>
      <p:sp>
        <p:nvSpPr>
          <p:cNvPr id="103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Shape 9"/>
          <p:cNvSpPr/>
          <p:nvPr/>
        </p:nvSpPr>
        <p:spPr>
          <a:xfrm>
            <a:off x="457199" y="2011679"/>
            <a:ext cx="5303522" cy="4114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5" name="Shape 10"/>
          <p:cNvSpPr/>
          <p:nvPr/>
        </p:nvSpPr>
        <p:spPr>
          <a:xfrm>
            <a:off x="457200" y="2011679"/>
            <a:ext cx="73153" cy="4114801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310897" cy="310896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11"/>
          <p:cNvSpPr txBox="1"/>
          <p:nvPr/>
        </p:nvSpPr>
        <p:spPr>
          <a:xfrm>
            <a:off x="1188719" y="2298953"/>
            <a:ext cx="27432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Team</a:t>
            </a:r>
          </a:p>
        </p:txBody>
      </p:sp>
      <p:sp>
        <p:nvSpPr>
          <p:cNvPr id="108" name="Shape 12"/>
          <p:cNvSpPr/>
          <p:nvPr/>
        </p:nvSpPr>
        <p:spPr>
          <a:xfrm>
            <a:off x="777240" y="2788920"/>
            <a:ext cx="457201" cy="45720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 13"/>
          <p:cNvSpPr txBox="1"/>
          <p:nvPr/>
        </p:nvSpPr>
        <p:spPr>
          <a:xfrm>
            <a:off x="777240" y="2896870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</a:t>
            </a:r>
          </a:p>
        </p:txBody>
      </p:sp>
      <p:sp>
        <p:nvSpPr>
          <p:cNvPr id="110" name="Text 14"/>
          <p:cNvSpPr txBox="1"/>
          <p:nvPr/>
        </p:nvSpPr>
        <p:spPr>
          <a:xfrm>
            <a:off x="1353311" y="2824410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</a:defRPr>
            </a:lvl1pPr>
          </a:lstStyle>
          <a:p>
            <a:r>
              <a:t>Oliver P Israel</a:t>
            </a:r>
          </a:p>
        </p:txBody>
      </p:sp>
      <p:sp>
        <p:nvSpPr>
          <p:cNvPr id="111" name="Text 15"/>
          <p:cNvSpPr txBox="1"/>
          <p:nvPr/>
        </p:nvSpPr>
        <p:spPr>
          <a:xfrm>
            <a:off x="1353311" y="3067856"/>
            <a:ext cx="4206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Backend</a:t>
            </a:r>
          </a:p>
        </p:txBody>
      </p:sp>
      <p:sp>
        <p:nvSpPr>
          <p:cNvPr id="112" name="Shape 16"/>
          <p:cNvSpPr/>
          <p:nvPr/>
        </p:nvSpPr>
        <p:spPr>
          <a:xfrm>
            <a:off x="777240" y="3410711"/>
            <a:ext cx="457201" cy="45720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17"/>
          <p:cNvSpPr txBox="1"/>
          <p:nvPr/>
        </p:nvSpPr>
        <p:spPr>
          <a:xfrm>
            <a:off x="777240" y="3518661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2</a:t>
            </a:r>
          </a:p>
        </p:txBody>
      </p:sp>
      <p:sp>
        <p:nvSpPr>
          <p:cNvPr id="114" name="Text 18"/>
          <p:cNvSpPr txBox="1"/>
          <p:nvPr/>
        </p:nvSpPr>
        <p:spPr>
          <a:xfrm>
            <a:off x="1353311" y="3446202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</a:defRPr>
            </a:lvl1pPr>
          </a:lstStyle>
          <a:p>
            <a:r>
              <a:t>Md Hasan</a:t>
            </a:r>
          </a:p>
        </p:txBody>
      </p:sp>
      <p:sp>
        <p:nvSpPr>
          <p:cNvPr id="115" name="Text 19"/>
          <p:cNvSpPr txBox="1"/>
          <p:nvPr/>
        </p:nvSpPr>
        <p:spPr>
          <a:xfrm>
            <a:off x="1353311" y="3689648"/>
            <a:ext cx="4206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116" name="Shape 20"/>
          <p:cNvSpPr/>
          <p:nvPr/>
        </p:nvSpPr>
        <p:spPr>
          <a:xfrm>
            <a:off x="777240" y="4032503"/>
            <a:ext cx="457201" cy="45720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Text 21"/>
          <p:cNvSpPr txBox="1"/>
          <p:nvPr/>
        </p:nvSpPr>
        <p:spPr>
          <a:xfrm>
            <a:off x="777240" y="4140453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3</a:t>
            </a:r>
          </a:p>
        </p:txBody>
      </p:sp>
      <p:sp>
        <p:nvSpPr>
          <p:cNvPr id="118" name="Text 22"/>
          <p:cNvSpPr txBox="1"/>
          <p:nvPr/>
        </p:nvSpPr>
        <p:spPr>
          <a:xfrm>
            <a:off x="1353311" y="4067994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</a:defRPr>
            </a:lvl1pPr>
          </a:lstStyle>
          <a:p>
            <a:r>
              <a:t>Aung Latt</a:t>
            </a:r>
          </a:p>
        </p:txBody>
      </p:sp>
      <p:sp>
        <p:nvSpPr>
          <p:cNvPr id="119" name="Text 23"/>
          <p:cNvSpPr txBox="1"/>
          <p:nvPr/>
        </p:nvSpPr>
        <p:spPr>
          <a:xfrm>
            <a:off x="1353311" y="4311440"/>
            <a:ext cx="4206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Frontend</a:t>
            </a:r>
          </a:p>
        </p:txBody>
      </p:sp>
      <p:sp>
        <p:nvSpPr>
          <p:cNvPr id="120" name="Shape 24"/>
          <p:cNvSpPr/>
          <p:nvPr/>
        </p:nvSpPr>
        <p:spPr>
          <a:xfrm>
            <a:off x="777240" y="4654296"/>
            <a:ext cx="457201" cy="45720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 25"/>
          <p:cNvSpPr txBox="1"/>
          <p:nvPr/>
        </p:nvSpPr>
        <p:spPr>
          <a:xfrm>
            <a:off x="777240" y="476224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4</a:t>
            </a:r>
          </a:p>
        </p:txBody>
      </p:sp>
      <p:sp>
        <p:nvSpPr>
          <p:cNvPr id="122" name="Text 26"/>
          <p:cNvSpPr txBox="1"/>
          <p:nvPr/>
        </p:nvSpPr>
        <p:spPr>
          <a:xfrm>
            <a:off x="1353311" y="4689786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</a:defRPr>
            </a:lvl1pPr>
          </a:lstStyle>
          <a:p>
            <a:r>
              <a:t>Nathan Chen</a:t>
            </a:r>
          </a:p>
        </p:txBody>
      </p:sp>
      <p:sp>
        <p:nvSpPr>
          <p:cNvPr id="123" name="Text 27"/>
          <p:cNvSpPr txBox="1"/>
          <p:nvPr/>
        </p:nvSpPr>
        <p:spPr>
          <a:xfrm>
            <a:off x="1353311" y="4933232"/>
            <a:ext cx="4206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DevOps</a:t>
            </a:r>
          </a:p>
        </p:txBody>
      </p:sp>
      <p:sp>
        <p:nvSpPr>
          <p:cNvPr id="124" name="Shape 28"/>
          <p:cNvSpPr/>
          <p:nvPr/>
        </p:nvSpPr>
        <p:spPr>
          <a:xfrm>
            <a:off x="777240" y="5276088"/>
            <a:ext cx="457201" cy="45720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Text 29"/>
          <p:cNvSpPr txBox="1"/>
          <p:nvPr/>
        </p:nvSpPr>
        <p:spPr>
          <a:xfrm>
            <a:off x="777240" y="538403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5</a:t>
            </a:r>
          </a:p>
        </p:txBody>
      </p:sp>
      <p:sp>
        <p:nvSpPr>
          <p:cNvPr id="126" name="Text 30"/>
          <p:cNvSpPr txBox="1"/>
          <p:nvPr/>
        </p:nvSpPr>
        <p:spPr>
          <a:xfrm>
            <a:off x="1353311" y="5311578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</a:defRPr>
            </a:lvl1pPr>
          </a:lstStyle>
          <a:p>
            <a:r>
              <a:t>Dario Haxhia</a:t>
            </a:r>
          </a:p>
        </p:txBody>
      </p:sp>
      <p:sp>
        <p:nvSpPr>
          <p:cNvPr id="127" name="Text 31"/>
          <p:cNvSpPr txBox="1"/>
          <p:nvPr/>
        </p:nvSpPr>
        <p:spPr>
          <a:xfrm>
            <a:off x="1353311" y="5555024"/>
            <a:ext cx="4206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Reports</a:t>
            </a:r>
          </a:p>
        </p:txBody>
      </p:sp>
      <p:sp>
        <p:nvSpPr>
          <p:cNvPr id="128" name="Shape 32"/>
          <p:cNvSpPr/>
          <p:nvPr/>
        </p:nvSpPr>
        <p:spPr>
          <a:xfrm>
            <a:off x="5989320" y="2011679"/>
            <a:ext cx="5760721" cy="12801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9" name="Shape 33"/>
          <p:cNvSpPr/>
          <p:nvPr/>
        </p:nvSpPr>
        <p:spPr>
          <a:xfrm>
            <a:off x="5989320" y="2011679"/>
            <a:ext cx="73153" cy="1280161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9456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34"/>
          <p:cNvSpPr txBox="1"/>
          <p:nvPr/>
        </p:nvSpPr>
        <p:spPr>
          <a:xfrm>
            <a:off x="6766559" y="2211069"/>
            <a:ext cx="4846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Business Idea</a:t>
            </a:r>
          </a:p>
        </p:txBody>
      </p:sp>
      <p:sp>
        <p:nvSpPr>
          <p:cNvPr id="132" name="Text 35"/>
          <p:cNvSpPr txBox="1"/>
          <p:nvPr/>
        </p:nvSpPr>
        <p:spPr>
          <a:xfrm>
            <a:off x="6263640" y="2693846"/>
            <a:ext cx="530352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r>
              <a:t>TradeConnect is a two-sided marketplace where employers post jobs and verified tradespeople apply, get booked, and get paid. Junior tradespeople earn credibility through senior endorsements.</a:t>
            </a:r>
          </a:p>
        </p:txBody>
      </p:sp>
      <p:sp>
        <p:nvSpPr>
          <p:cNvPr id="133" name="Shape 36"/>
          <p:cNvSpPr/>
          <p:nvPr/>
        </p:nvSpPr>
        <p:spPr>
          <a:xfrm>
            <a:off x="5989320" y="3429000"/>
            <a:ext cx="5760721" cy="12801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4" name="Shape 37"/>
          <p:cNvSpPr/>
          <p:nvPr/>
        </p:nvSpPr>
        <p:spPr>
          <a:xfrm>
            <a:off x="5989320" y="3429000"/>
            <a:ext cx="73153" cy="1280161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5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6118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 38"/>
          <p:cNvSpPr txBox="1"/>
          <p:nvPr/>
        </p:nvSpPr>
        <p:spPr>
          <a:xfrm>
            <a:off x="6766559" y="3628389"/>
            <a:ext cx="4846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Tech Stack</a:t>
            </a:r>
          </a:p>
        </p:txBody>
      </p:sp>
      <p:sp>
        <p:nvSpPr>
          <p:cNvPr id="137" name="Text 39"/>
          <p:cNvSpPr txBox="1"/>
          <p:nvPr/>
        </p:nvSpPr>
        <p:spPr>
          <a:xfrm>
            <a:off x="6263640" y="4193716"/>
            <a:ext cx="53035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r>
              <a:t>Next.js 14 (TypeScript) on the front, Flask + native mysql-connector on the back, MySQL 8 as the source of truth. No ORM — direct SQL with parametrized queries.</a:t>
            </a:r>
          </a:p>
        </p:txBody>
      </p:sp>
      <p:sp>
        <p:nvSpPr>
          <p:cNvPr id="138" name="Shape 40"/>
          <p:cNvSpPr/>
          <p:nvPr/>
        </p:nvSpPr>
        <p:spPr>
          <a:xfrm>
            <a:off x="5989320" y="4846320"/>
            <a:ext cx="5760721" cy="12801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39" name="Shape 41"/>
          <p:cNvSpPr/>
          <p:nvPr/>
        </p:nvSpPr>
        <p:spPr>
          <a:xfrm>
            <a:off x="5989320" y="4846320"/>
            <a:ext cx="73153" cy="1280161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0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029200"/>
            <a:ext cx="365761" cy="365760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 42"/>
          <p:cNvSpPr txBox="1"/>
          <p:nvPr/>
        </p:nvSpPr>
        <p:spPr>
          <a:xfrm>
            <a:off x="6766559" y="5045709"/>
            <a:ext cx="4846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Profit Model</a:t>
            </a:r>
          </a:p>
        </p:txBody>
      </p:sp>
      <p:sp>
        <p:nvSpPr>
          <p:cNvPr id="142" name="Text 43"/>
          <p:cNvSpPr txBox="1"/>
          <p:nvPr/>
        </p:nvSpPr>
        <p:spPr>
          <a:xfrm>
            <a:off x="6263640" y="5611036"/>
            <a:ext cx="53035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r>
              <a:t>Two revenue streams: a 10% platform service fee on every paid booking, plus tiered tradesperson subscriptions (Free / Pro / Elite). Both flow into one revenue_streams table.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147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USE CASES</a:t>
            </a:r>
          </a:p>
        </p:txBody>
      </p:sp>
      <p:sp>
        <p:nvSpPr>
          <p:cNvPr id="148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151" name="Text 6"/>
          <p:cNvSpPr txBox="1"/>
          <p:nvPr/>
        </p:nvSpPr>
        <p:spPr>
          <a:xfrm>
            <a:off x="457200" y="866338"/>
            <a:ext cx="10972800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rPr lang="en-US"/>
              <a:t>TWO USER JOURNEYS</a:t>
            </a:r>
          </a:p>
        </p:txBody>
      </p:sp>
      <p:sp>
        <p:nvSpPr>
          <p:cNvPr id="152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How Value Flows Through the Platform</a:t>
            </a:r>
          </a:p>
        </p:txBody>
      </p:sp>
      <p:sp>
        <p:nvSpPr>
          <p:cNvPr id="153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Shape 9"/>
          <p:cNvSpPr/>
          <p:nvPr/>
        </p:nvSpPr>
        <p:spPr>
          <a:xfrm>
            <a:off x="457199" y="1920239"/>
            <a:ext cx="11277297" cy="45720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93392"/>
            <a:ext cx="310897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 10"/>
          <p:cNvSpPr txBox="1"/>
          <p:nvPr/>
        </p:nvSpPr>
        <p:spPr>
          <a:xfrm>
            <a:off x="1051559" y="2055561"/>
            <a:ext cx="1036289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Employer journey — posting work and getting it done</a:t>
            </a:r>
          </a:p>
        </p:txBody>
      </p:sp>
      <p:sp>
        <p:nvSpPr>
          <p:cNvPr id="157" name="Shape 11"/>
          <p:cNvSpPr/>
          <p:nvPr/>
        </p:nvSpPr>
        <p:spPr>
          <a:xfrm>
            <a:off x="457200" y="2560320"/>
            <a:ext cx="2407844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58" name="Shape 12"/>
          <p:cNvSpPr/>
          <p:nvPr/>
        </p:nvSpPr>
        <p:spPr>
          <a:xfrm>
            <a:off x="621791" y="2724911"/>
            <a:ext cx="411482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Text 13"/>
          <p:cNvSpPr txBox="1"/>
          <p:nvPr/>
        </p:nvSpPr>
        <p:spPr>
          <a:xfrm>
            <a:off x="621791" y="2829051"/>
            <a:ext cx="411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</a:t>
            </a:r>
          </a:p>
        </p:txBody>
      </p:sp>
      <p:sp>
        <p:nvSpPr>
          <p:cNvPr id="160" name="Text 14"/>
          <p:cNvSpPr txBox="1"/>
          <p:nvPr/>
        </p:nvSpPr>
        <p:spPr>
          <a:xfrm>
            <a:off x="1097280" y="2852219"/>
            <a:ext cx="163060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Post a job</a:t>
            </a:r>
          </a:p>
        </p:txBody>
      </p:sp>
      <p:sp>
        <p:nvSpPr>
          <p:cNvPr id="161" name="Text 15"/>
          <p:cNvSpPr txBox="1"/>
          <p:nvPr/>
        </p:nvSpPr>
        <p:spPr>
          <a:xfrm>
            <a:off x="640080" y="3405930"/>
            <a:ext cx="2087804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Title, trade type, city, budget, and scheduled date.</a:t>
            </a:r>
          </a:p>
        </p:txBody>
      </p:sp>
      <p:pic>
        <p:nvPicPr>
          <p:cNvPr id="16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771" y="310896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hape 16"/>
          <p:cNvSpPr/>
          <p:nvPr/>
        </p:nvSpPr>
        <p:spPr>
          <a:xfrm>
            <a:off x="3413683" y="2560320"/>
            <a:ext cx="2407845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64" name="Shape 17"/>
          <p:cNvSpPr/>
          <p:nvPr/>
        </p:nvSpPr>
        <p:spPr>
          <a:xfrm>
            <a:off x="3578276" y="2724911"/>
            <a:ext cx="411481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Text 18"/>
          <p:cNvSpPr txBox="1"/>
          <p:nvPr/>
        </p:nvSpPr>
        <p:spPr>
          <a:xfrm>
            <a:off x="3578276" y="2829051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2</a:t>
            </a:r>
          </a:p>
        </p:txBody>
      </p:sp>
      <p:sp>
        <p:nvSpPr>
          <p:cNvPr id="166" name="Text 19"/>
          <p:cNvSpPr txBox="1"/>
          <p:nvPr/>
        </p:nvSpPr>
        <p:spPr>
          <a:xfrm>
            <a:off x="4053764" y="2852219"/>
            <a:ext cx="16306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Review applicants</a:t>
            </a:r>
          </a:p>
        </p:txBody>
      </p:sp>
      <p:sp>
        <p:nvSpPr>
          <p:cNvPr id="167" name="Text 20"/>
          <p:cNvSpPr txBox="1"/>
          <p:nvPr/>
        </p:nvSpPr>
        <p:spPr>
          <a:xfrm>
            <a:off x="3596564" y="3405930"/>
            <a:ext cx="208780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Browse tradespeople by rating, experience, proposed price.</a:t>
            </a:r>
          </a:p>
        </p:txBody>
      </p:sp>
      <p:pic>
        <p:nvPicPr>
          <p:cNvPr id="168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256" y="310896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hape 21"/>
          <p:cNvSpPr/>
          <p:nvPr/>
        </p:nvSpPr>
        <p:spPr>
          <a:xfrm>
            <a:off x="6370168" y="2560320"/>
            <a:ext cx="2407844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0" name="Shape 22"/>
          <p:cNvSpPr/>
          <p:nvPr/>
        </p:nvSpPr>
        <p:spPr>
          <a:xfrm>
            <a:off x="6534760" y="2724911"/>
            <a:ext cx="411481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" name="Text 23"/>
          <p:cNvSpPr txBox="1"/>
          <p:nvPr/>
        </p:nvSpPr>
        <p:spPr>
          <a:xfrm>
            <a:off x="6534760" y="2829051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3</a:t>
            </a:r>
          </a:p>
        </p:txBody>
      </p:sp>
      <p:sp>
        <p:nvSpPr>
          <p:cNvPr id="172" name="Text 24"/>
          <p:cNvSpPr txBox="1"/>
          <p:nvPr/>
        </p:nvSpPr>
        <p:spPr>
          <a:xfrm>
            <a:off x="7010248" y="2852219"/>
            <a:ext cx="16306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Accept application</a:t>
            </a:r>
          </a:p>
        </p:txBody>
      </p:sp>
      <p:sp>
        <p:nvSpPr>
          <p:cNvPr id="173" name="Text 25"/>
          <p:cNvSpPr txBox="1"/>
          <p:nvPr/>
        </p:nvSpPr>
        <p:spPr>
          <a:xfrm>
            <a:off x="6553048" y="3405930"/>
            <a:ext cx="208780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Trigger auto-creates the booking and closes the posting.</a:t>
            </a:r>
          </a:p>
        </p:txBody>
      </p:sp>
      <p:pic>
        <p:nvPicPr>
          <p:cNvPr id="174" name="Image 4" descr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738" y="310896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Shape 26"/>
          <p:cNvSpPr/>
          <p:nvPr/>
        </p:nvSpPr>
        <p:spPr>
          <a:xfrm>
            <a:off x="9326650" y="2560320"/>
            <a:ext cx="2407845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6" name="Shape 27"/>
          <p:cNvSpPr/>
          <p:nvPr/>
        </p:nvSpPr>
        <p:spPr>
          <a:xfrm>
            <a:off x="9491243" y="2724911"/>
            <a:ext cx="411481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Text 28"/>
          <p:cNvSpPr txBox="1"/>
          <p:nvPr/>
        </p:nvSpPr>
        <p:spPr>
          <a:xfrm>
            <a:off x="9491243" y="2829051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4</a:t>
            </a:r>
          </a:p>
        </p:txBody>
      </p:sp>
      <p:sp>
        <p:nvSpPr>
          <p:cNvPr id="178" name="Text 29"/>
          <p:cNvSpPr txBox="1"/>
          <p:nvPr/>
        </p:nvSpPr>
        <p:spPr>
          <a:xfrm>
            <a:off x="9966731" y="2852219"/>
            <a:ext cx="16306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Pay &amp; review</a:t>
            </a:r>
          </a:p>
        </p:txBody>
      </p:sp>
      <p:sp>
        <p:nvSpPr>
          <p:cNvPr id="179" name="Text 30"/>
          <p:cNvSpPr txBox="1"/>
          <p:nvPr/>
        </p:nvSpPr>
        <p:spPr>
          <a:xfrm>
            <a:off x="9509531" y="3405930"/>
            <a:ext cx="208780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10% fee deducted server-side; trigger queues a review request.</a:t>
            </a:r>
          </a:p>
        </p:txBody>
      </p:sp>
      <p:sp>
        <p:nvSpPr>
          <p:cNvPr id="180" name="Shape 31"/>
          <p:cNvSpPr/>
          <p:nvPr/>
        </p:nvSpPr>
        <p:spPr>
          <a:xfrm>
            <a:off x="457199" y="4206240"/>
            <a:ext cx="11277297" cy="45720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1" name="Image 5" descr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79391"/>
            <a:ext cx="310897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32"/>
          <p:cNvSpPr txBox="1"/>
          <p:nvPr/>
        </p:nvSpPr>
        <p:spPr>
          <a:xfrm>
            <a:off x="1051559" y="4341562"/>
            <a:ext cx="1036289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FFFFFF"/>
                </a:solidFill>
              </a:defRPr>
            </a:lvl1pPr>
          </a:lstStyle>
          <a:p>
            <a:r>
              <a:t>Tradesperson / Junior journey — earning work and reputation</a:t>
            </a:r>
          </a:p>
        </p:txBody>
      </p:sp>
      <p:sp>
        <p:nvSpPr>
          <p:cNvPr id="183" name="Shape 33"/>
          <p:cNvSpPr/>
          <p:nvPr/>
        </p:nvSpPr>
        <p:spPr>
          <a:xfrm>
            <a:off x="457200" y="4846320"/>
            <a:ext cx="2407844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84" name="Shape 34"/>
          <p:cNvSpPr/>
          <p:nvPr/>
        </p:nvSpPr>
        <p:spPr>
          <a:xfrm>
            <a:off x="621791" y="5010911"/>
            <a:ext cx="411482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5" name="Text 35"/>
          <p:cNvSpPr txBox="1"/>
          <p:nvPr/>
        </p:nvSpPr>
        <p:spPr>
          <a:xfrm>
            <a:off x="621791" y="5115052"/>
            <a:ext cx="411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</a:t>
            </a:r>
          </a:p>
        </p:txBody>
      </p:sp>
      <p:sp>
        <p:nvSpPr>
          <p:cNvPr id="186" name="Text 36"/>
          <p:cNvSpPr txBox="1"/>
          <p:nvPr/>
        </p:nvSpPr>
        <p:spPr>
          <a:xfrm>
            <a:off x="1097280" y="5138219"/>
            <a:ext cx="163060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Register &amp; list services</a:t>
            </a:r>
          </a:p>
        </p:txBody>
      </p:sp>
      <p:sp>
        <p:nvSpPr>
          <p:cNvPr id="187" name="Text 37"/>
          <p:cNvSpPr txBox="1"/>
          <p:nvPr/>
        </p:nvSpPr>
        <p:spPr>
          <a:xfrm>
            <a:off x="640080" y="5774480"/>
            <a:ext cx="208780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Set hourly rates and trade categories.</a:t>
            </a:r>
          </a:p>
        </p:txBody>
      </p:sp>
      <p:pic>
        <p:nvPicPr>
          <p:cNvPr id="188" name="Image 6" descr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771" y="539495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38"/>
          <p:cNvSpPr/>
          <p:nvPr/>
        </p:nvSpPr>
        <p:spPr>
          <a:xfrm>
            <a:off x="3413683" y="4846320"/>
            <a:ext cx="2407845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90" name="Shape 39"/>
          <p:cNvSpPr/>
          <p:nvPr/>
        </p:nvSpPr>
        <p:spPr>
          <a:xfrm>
            <a:off x="3578276" y="5010911"/>
            <a:ext cx="411481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ext 40"/>
          <p:cNvSpPr txBox="1"/>
          <p:nvPr/>
        </p:nvSpPr>
        <p:spPr>
          <a:xfrm>
            <a:off x="3578276" y="5115052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2</a:t>
            </a:r>
          </a:p>
        </p:txBody>
      </p:sp>
      <p:sp>
        <p:nvSpPr>
          <p:cNvPr id="192" name="Text 41"/>
          <p:cNvSpPr txBox="1"/>
          <p:nvPr/>
        </p:nvSpPr>
        <p:spPr>
          <a:xfrm>
            <a:off x="4053764" y="5138219"/>
            <a:ext cx="16306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Apply / get endorsed</a:t>
            </a:r>
          </a:p>
        </p:txBody>
      </p:sp>
      <p:sp>
        <p:nvSpPr>
          <p:cNvPr id="193" name="Text 42"/>
          <p:cNvSpPr txBox="1"/>
          <p:nvPr/>
        </p:nvSpPr>
        <p:spPr>
          <a:xfrm>
            <a:off x="3596564" y="5691930"/>
            <a:ext cx="208780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Juniors request a senior's endorsement to unlock jobs.</a:t>
            </a:r>
          </a:p>
        </p:txBody>
      </p:sp>
      <p:pic>
        <p:nvPicPr>
          <p:cNvPr id="194" name="Image 7" descr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256" y="539495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Shape 43"/>
          <p:cNvSpPr/>
          <p:nvPr/>
        </p:nvSpPr>
        <p:spPr>
          <a:xfrm>
            <a:off x="6370168" y="4846320"/>
            <a:ext cx="2407844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96" name="Shape 44"/>
          <p:cNvSpPr/>
          <p:nvPr/>
        </p:nvSpPr>
        <p:spPr>
          <a:xfrm>
            <a:off x="6534760" y="5010911"/>
            <a:ext cx="411481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" name="Text 45"/>
          <p:cNvSpPr txBox="1"/>
          <p:nvPr/>
        </p:nvSpPr>
        <p:spPr>
          <a:xfrm>
            <a:off x="6534760" y="5115052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3</a:t>
            </a:r>
          </a:p>
        </p:txBody>
      </p:sp>
      <p:sp>
        <p:nvSpPr>
          <p:cNvPr id="198" name="Text 46"/>
          <p:cNvSpPr txBox="1"/>
          <p:nvPr/>
        </p:nvSpPr>
        <p:spPr>
          <a:xfrm>
            <a:off x="7010248" y="5138219"/>
            <a:ext cx="16306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Get booked</a:t>
            </a:r>
          </a:p>
        </p:txBody>
      </p:sp>
      <p:sp>
        <p:nvSpPr>
          <p:cNvPr id="199" name="Text 47"/>
          <p:cNvSpPr txBox="1"/>
          <p:nvPr/>
        </p:nvSpPr>
        <p:spPr>
          <a:xfrm>
            <a:off x="6553048" y="5691930"/>
            <a:ext cx="208780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City-match and time-overlap triggers guard the calendar.</a:t>
            </a:r>
          </a:p>
        </p:txBody>
      </p:sp>
      <p:pic>
        <p:nvPicPr>
          <p:cNvPr id="200" name="Image 8" descr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738" y="539495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Shape 48"/>
          <p:cNvSpPr/>
          <p:nvPr/>
        </p:nvSpPr>
        <p:spPr>
          <a:xfrm>
            <a:off x="9326650" y="4846320"/>
            <a:ext cx="2407845" cy="1417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st="12700" dir="5400000" rotWithShape="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02" name="Shape 49"/>
          <p:cNvSpPr/>
          <p:nvPr/>
        </p:nvSpPr>
        <p:spPr>
          <a:xfrm>
            <a:off x="9491243" y="5010911"/>
            <a:ext cx="411481" cy="411481"/>
          </a:xfrm>
          <a:prstGeom prst="ellipse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Text 50"/>
          <p:cNvSpPr txBox="1"/>
          <p:nvPr/>
        </p:nvSpPr>
        <p:spPr>
          <a:xfrm>
            <a:off x="9491243" y="5115052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4</a:t>
            </a:r>
          </a:p>
        </p:txBody>
      </p:sp>
      <p:sp>
        <p:nvSpPr>
          <p:cNvPr id="204" name="Text 51"/>
          <p:cNvSpPr txBox="1"/>
          <p:nvPr/>
        </p:nvSpPr>
        <p:spPr>
          <a:xfrm>
            <a:off x="9966731" y="5138219"/>
            <a:ext cx="16306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Earn &amp; subscribe</a:t>
            </a:r>
          </a:p>
        </p:txBody>
      </p:sp>
      <p:sp>
        <p:nvSpPr>
          <p:cNvPr id="205" name="Text 52"/>
          <p:cNvSpPr txBox="1"/>
          <p:nvPr/>
        </p:nvSpPr>
        <p:spPr>
          <a:xfrm>
            <a:off x="9509531" y="5691930"/>
            <a:ext cx="2087805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Pro / Elite plans lift the job cap; ratings update live.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210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MVP DEMO 1</a:t>
            </a:r>
          </a:p>
        </p:txBody>
      </p:sp>
      <p:sp>
        <p:nvSpPr>
          <p:cNvPr id="211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214" name="Text 6"/>
          <p:cNvSpPr txBox="1"/>
          <p:nvPr/>
        </p:nvSpPr>
        <p:spPr>
          <a:xfrm>
            <a:off x="457200" y="883842"/>
            <a:ext cx="10972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t>LIVE DEMO · MVP #1</a:t>
            </a:r>
          </a:p>
        </p:txBody>
      </p:sp>
      <p:sp>
        <p:nvSpPr>
          <p:cNvPr id="215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Job Lifecycle — From Posting to Booking</a:t>
            </a:r>
          </a:p>
        </p:txBody>
      </p:sp>
      <p:sp>
        <p:nvSpPr>
          <p:cNvPr id="216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" name="Text 9"/>
          <p:cNvSpPr txBox="1"/>
          <p:nvPr/>
        </p:nvSpPr>
        <p:spPr>
          <a:xfrm>
            <a:off x="457199" y="2191320"/>
            <a:ext cx="57607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400">
                <a:solidFill>
                  <a:srgbClr val="4FB5C1"/>
                </a:solidFill>
              </a:defRPr>
            </a:lvl1pPr>
          </a:lstStyle>
          <a:p>
            <a:r>
              <a:t>What we'll demo live</a:t>
            </a:r>
          </a:p>
        </p:txBody>
      </p:sp>
      <p:sp>
        <p:nvSpPr>
          <p:cNvPr id="218" name="Text 10"/>
          <p:cNvSpPr txBox="1"/>
          <p:nvPr/>
        </p:nvSpPr>
        <p:spPr>
          <a:xfrm>
            <a:off x="457199" y="2717100"/>
            <a:ext cx="576072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0B2545"/>
                </a:solidFill>
              </a:defRPr>
            </a:lvl1pPr>
          </a:lstStyle>
          <a:p>
            <a:r>
              <a:t>The end-to-end job pipeline — from an employer creating a posting through to a booking being auto-generated by a database trigger.</a:t>
            </a:r>
          </a:p>
        </p:txBody>
      </p:sp>
      <p:sp>
        <p:nvSpPr>
          <p:cNvPr id="219" name="Shape 11"/>
          <p:cNvSpPr/>
          <p:nvPr/>
        </p:nvSpPr>
        <p:spPr>
          <a:xfrm>
            <a:off x="457200" y="3474720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Text 12"/>
          <p:cNvSpPr txBox="1"/>
          <p:nvPr/>
        </p:nvSpPr>
        <p:spPr>
          <a:xfrm>
            <a:off x="457200" y="3581399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</a:t>
            </a:r>
          </a:p>
        </p:txBody>
      </p:sp>
      <p:sp>
        <p:nvSpPr>
          <p:cNvPr id="221" name="Text 13"/>
          <p:cNvSpPr txBox="1"/>
          <p:nvPr/>
        </p:nvSpPr>
        <p:spPr>
          <a:xfrm>
            <a:off x="960119" y="3487727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Employer logs in</a:t>
            </a:r>
          </a:p>
        </p:txBody>
      </p:sp>
      <p:sp>
        <p:nvSpPr>
          <p:cNvPr id="222" name="Text 14"/>
          <p:cNvSpPr txBox="1"/>
          <p:nvPr/>
        </p:nvSpPr>
        <p:spPr>
          <a:xfrm>
            <a:off x="960119" y="3744512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Hits /employer/dashboard, opens 'New job posting'.</a:t>
            </a:r>
          </a:p>
        </p:txBody>
      </p:sp>
      <p:sp>
        <p:nvSpPr>
          <p:cNvPr id="223" name="Shape 15"/>
          <p:cNvSpPr/>
          <p:nvPr/>
        </p:nvSpPr>
        <p:spPr>
          <a:xfrm>
            <a:off x="457200" y="4041647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Text 16"/>
          <p:cNvSpPr txBox="1"/>
          <p:nvPr/>
        </p:nvSpPr>
        <p:spPr>
          <a:xfrm>
            <a:off x="457200" y="4148327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2</a:t>
            </a:r>
          </a:p>
        </p:txBody>
      </p:sp>
      <p:sp>
        <p:nvSpPr>
          <p:cNvPr id="225" name="Text 17"/>
          <p:cNvSpPr txBox="1"/>
          <p:nvPr/>
        </p:nvSpPr>
        <p:spPr>
          <a:xfrm>
            <a:off x="960119" y="4054655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Submit a posting</a:t>
            </a:r>
          </a:p>
        </p:txBody>
      </p:sp>
      <p:sp>
        <p:nvSpPr>
          <p:cNvPr id="226" name="Text 18"/>
          <p:cNvSpPr txBox="1"/>
          <p:nvPr/>
        </p:nvSpPr>
        <p:spPr>
          <a:xfrm>
            <a:off x="960119" y="4311440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POST /api/job-postings — row lands in job_postings (status='open').</a:t>
            </a:r>
          </a:p>
        </p:txBody>
      </p:sp>
      <p:sp>
        <p:nvSpPr>
          <p:cNvPr id="227" name="Shape 19"/>
          <p:cNvSpPr/>
          <p:nvPr/>
        </p:nvSpPr>
        <p:spPr>
          <a:xfrm>
            <a:off x="457200" y="4608576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Text 20"/>
          <p:cNvSpPr txBox="1"/>
          <p:nvPr/>
        </p:nvSpPr>
        <p:spPr>
          <a:xfrm>
            <a:off x="457200" y="4715255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3</a:t>
            </a:r>
          </a:p>
        </p:txBody>
      </p:sp>
      <p:sp>
        <p:nvSpPr>
          <p:cNvPr id="229" name="Text 21"/>
          <p:cNvSpPr txBox="1"/>
          <p:nvPr/>
        </p:nvSpPr>
        <p:spPr>
          <a:xfrm>
            <a:off x="960119" y="4621583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Tradesperson applies</a:t>
            </a:r>
          </a:p>
        </p:txBody>
      </p:sp>
      <p:sp>
        <p:nvSpPr>
          <p:cNvPr id="230" name="Text 22"/>
          <p:cNvSpPr txBox="1"/>
          <p:nvPr/>
        </p:nvSpPr>
        <p:spPr>
          <a:xfrm>
            <a:off x="960119" y="4878368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POST /api/job-applications with a proposed price and message.</a:t>
            </a:r>
          </a:p>
        </p:txBody>
      </p:sp>
      <p:sp>
        <p:nvSpPr>
          <p:cNvPr id="231" name="Shape 23"/>
          <p:cNvSpPr/>
          <p:nvPr/>
        </p:nvSpPr>
        <p:spPr>
          <a:xfrm>
            <a:off x="457200" y="5175503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" name="Text 24"/>
          <p:cNvSpPr txBox="1"/>
          <p:nvPr/>
        </p:nvSpPr>
        <p:spPr>
          <a:xfrm>
            <a:off x="457200" y="5282183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4</a:t>
            </a:r>
          </a:p>
        </p:txBody>
      </p:sp>
      <p:sp>
        <p:nvSpPr>
          <p:cNvPr id="233" name="Text 25"/>
          <p:cNvSpPr txBox="1"/>
          <p:nvPr/>
        </p:nvSpPr>
        <p:spPr>
          <a:xfrm>
            <a:off x="960119" y="5188511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Employer accepts</a:t>
            </a:r>
          </a:p>
        </p:txBody>
      </p:sp>
      <p:sp>
        <p:nvSpPr>
          <p:cNvPr id="234" name="Text 26"/>
          <p:cNvSpPr txBox="1"/>
          <p:nvPr/>
        </p:nvSpPr>
        <p:spPr>
          <a:xfrm>
            <a:off x="960119" y="5445296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PATCH on application status → 'accepted'.</a:t>
            </a:r>
          </a:p>
        </p:txBody>
      </p:sp>
      <p:sp>
        <p:nvSpPr>
          <p:cNvPr id="235" name="Shape 27"/>
          <p:cNvSpPr/>
          <p:nvPr/>
        </p:nvSpPr>
        <p:spPr>
          <a:xfrm>
            <a:off x="457200" y="5742432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6" name="Text 28"/>
          <p:cNvSpPr txBox="1"/>
          <p:nvPr/>
        </p:nvSpPr>
        <p:spPr>
          <a:xfrm>
            <a:off x="457200" y="5849111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5</a:t>
            </a:r>
          </a:p>
        </p:txBody>
      </p:sp>
      <p:sp>
        <p:nvSpPr>
          <p:cNvPr id="237" name="Text 29"/>
          <p:cNvSpPr txBox="1"/>
          <p:nvPr/>
        </p:nvSpPr>
        <p:spPr>
          <a:xfrm>
            <a:off x="960119" y="5755439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Trigger fires</a:t>
            </a:r>
          </a:p>
        </p:txBody>
      </p:sp>
      <p:sp>
        <p:nvSpPr>
          <p:cNvPr id="238" name="Text 30"/>
          <p:cNvSpPr txBox="1"/>
          <p:nvPr/>
        </p:nvSpPr>
        <p:spPr>
          <a:xfrm>
            <a:off x="960119" y="6012224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application_accept_creates_booking inserts the booking &amp; closes the posting in one step.</a:t>
            </a:r>
          </a:p>
        </p:txBody>
      </p:sp>
      <p:sp>
        <p:nvSpPr>
          <p:cNvPr id="239" name="Shape 31"/>
          <p:cNvSpPr/>
          <p:nvPr/>
        </p:nvSpPr>
        <p:spPr>
          <a:xfrm>
            <a:off x="6492240" y="2011679"/>
            <a:ext cx="5303521" cy="416052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  <a:effectLst>
            <a:outerShdw blurRad="152400" dist="50800" dir="5400000" rotWithShape="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40" name="Shape 32"/>
          <p:cNvSpPr/>
          <p:nvPr/>
        </p:nvSpPr>
        <p:spPr>
          <a:xfrm>
            <a:off x="6492240" y="2011679"/>
            <a:ext cx="5303521" cy="365761"/>
          </a:xfrm>
          <a:prstGeom prst="rect">
            <a:avLst/>
          </a:prstGeom>
          <a:solidFill>
            <a:srgbClr val="13315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Shape 33"/>
          <p:cNvSpPr/>
          <p:nvPr/>
        </p:nvSpPr>
        <p:spPr>
          <a:xfrm>
            <a:off x="6629400" y="2121407"/>
            <a:ext cx="146305" cy="146305"/>
          </a:xfrm>
          <a:prstGeom prst="ellipse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2" name="Shape 34"/>
          <p:cNvSpPr/>
          <p:nvPr/>
        </p:nvSpPr>
        <p:spPr>
          <a:xfrm>
            <a:off x="6830568" y="2121407"/>
            <a:ext cx="146305" cy="146305"/>
          </a:xfrm>
          <a:prstGeom prst="ellipse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3" name="Shape 35"/>
          <p:cNvSpPr/>
          <p:nvPr/>
        </p:nvSpPr>
        <p:spPr>
          <a:xfrm>
            <a:off x="7031735" y="2121407"/>
            <a:ext cx="146305" cy="146305"/>
          </a:xfrm>
          <a:prstGeom prst="ellipse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Text 36"/>
          <p:cNvSpPr txBox="1"/>
          <p:nvPr/>
        </p:nvSpPr>
        <p:spPr>
          <a:xfrm>
            <a:off x="7360919" y="2124709"/>
            <a:ext cx="42062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8C2D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localhost:3000/employer/dashboard</a:t>
            </a:r>
          </a:p>
        </p:txBody>
      </p:sp>
      <p:sp>
        <p:nvSpPr>
          <p:cNvPr id="245" name="Text 37"/>
          <p:cNvSpPr txBox="1"/>
          <p:nvPr/>
        </p:nvSpPr>
        <p:spPr>
          <a:xfrm>
            <a:off x="6766559" y="2614099"/>
            <a:ext cx="4754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t>Active Postings</a:t>
            </a:r>
          </a:p>
        </p:txBody>
      </p:sp>
      <p:sp>
        <p:nvSpPr>
          <p:cNvPr id="246" name="Shape 38"/>
          <p:cNvSpPr/>
          <p:nvPr/>
        </p:nvSpPr>
        <p:spPr>
          <a:xfrm>
            <a:off x="6766559" y="2926079"/>
            <a:ext cx="4754881" cy="603505"/>
          </a:xfrm>
          <a:prstGeom prst="rect">
            <a:avLst/>
          </a:prstGeom>
          <a:solidFill>
            <a:srgbClr val="1B345E"/>
          </a:solidFill>
          <a:ln w="6350">
            <a:solidFill>
              <a:srgbClr val="27406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7" name="Shape 39"/>
          <p:cNvSpPr/>
          <p:nvPr/>
        </p:nvSpPr>
        <p:spPr>
          <a:xfrm>
            <a:off x="6766559" y="2926079"/>
            <a:ext cx="54865" cy="60350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Text 40"/>
          <p:cNvSpPr txBox="1"/>
          <p:nvPr/>
        </p:nvSpPr>
        <p:spPr>
          <a:xfrm>
            <a:off x="6949440" y="3041826"/>
            <a:ext cx="4526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FFFFFF"/>
                </a:solidFill>
              </a:defRPr>
            </a:lvl1pPr>
          </a:lstStyle>
          <a:p>
            <a:r>
              <a:t>Bathroom retile — Astoria</a:t>
            </a:r>
          </a:p>
        </p:txBody>
      </p:sp>
      <p:sp>
        <p:nvSpPr>
          <p:cNvPr id="249" name="Text 41"/>
          <p:cNvSpPr txBox="1"/>
          <p:nvPr/>
        </p:nvSpPr>
        <p:spPr>
          <a:xfrm>
            <a:off x="6949440" y="3301491"/>
            <a:ext cx="4526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8C2D3"/>
                </a:solidFill>
              </a:defRPr>
            </a:lvl1pPr>
          </a:lstStyle>
          <a:p>
            <a:r>
              <a:t>Plumbing · $800–$1,200 · 3 applicants</a:t>
            </a:r>
          </a:p>
        </p:txBody>
      </p:sp>
      <p:sp>
        <p:nvSpPr>
          <p:cNvPr id="250" name="Shape 42"/>
          <p:cNvSpPr/>
          <p:nvPr/>
        </p:nvSpPr>
        <p:spPr>
          <a:xfrm>
            <a:off x="6766559" y="3639311"/>
            <a:ext cx="4754881" cy="603505"/>
          </a:xfrm>
          <a:prstGeom prst="rect">
            <a:avLst/>
          </a:prstGeom>
          <a:solidFill>
            <a:srgbClr val="1B345E"/>
          </a:solidFill>
          <a:ln w="6350">
            <a:solidFill>
              <a:srgbClr val="27406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Shape 43"/>
          <p:cNvSpPr/>
          <p:nvPr/>
        </p:nvSpPr>
        <p:spPr>
          <a:xfrm>
            <a:off x="6766559" y="3639311"/>
            <a:ext cx="54865" cy="60350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2" name="Text 44"/>
          <p:cNvSpPr txBox="1"/>
          <p:nvPr/>
        </p:nvSpPr>
        <p:spPr>
          <a:xfrm>
            <a:off x="6949440" y="3755058"/>
            <a:ext cx="4526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FFFFFF"/>
                </a:solidFill>
              </a:defRPr>
            </a:lvl1pPr>
          </a:lstStyle>
          <a:p>
            <a:r>
              <a:t>Kitchen rewire — Bronx</a:t>
            </a:r>
          </a:p>
        </p:txBody>
      </p:sp>
      <p:sp>
        <p:nvSpPr>
          <p:cNvPr id="253" name="Text 45"/>
          <p:cNvSpPr txBox="1"/>
          <p:nvPr/>
        </p:nvSpPr>
        <p:spPr>
          <a:xfrm>
            <a:off x="6949440" y="4014723"/>
            <a:ext cx="4526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8C2D3"/>
                </a:solidFill>
              </a:defRPr>
            </a:lvl1pPr>
          </a:lstStyle>
          <a:p>
            <a:r>
              <a:t>Electrical · $1,500–$2,000 · 2 applicants</a:t>
            </a:r>
          </a:p>
        </p:txBody>
      </p:sp>
      <p:sp>
        <p:nvSpPr>
          <p:cNvPr id="254" name="Shape 46"/>
          <p:cNvSpPr/>
          <p:nvPr/>
        </p:nvSpPr>
        <p:spPr>
          <a:xfrm>
            <a:off x="6766559" y="4352544"/>
            <a:ext cx="4754881" cy="603505"/>
          </a:xfrm>
          <a:prstGeom prst="rect">
            <a:avLst/>
          </a:prstGeom>
          <a:solidFill>
            <a:srgbClr val="1B345E"/>
          </a:solidFill>
          <a:ln w="6350">
            <a:solidFill>
              <a:srgbClr val="27406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Shape 47"/>
          <p:cNvSpPr/>
          <p:nvPr/>
        </p:nvSpPr>
        <p:spPr>
          <a:xfrm>
            <a:off x="6766559" y="4352544"/>
            <a:ext cx="54865" cy="60350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Text 48"/>
          <p:cNvSpPr txBox="1"/>
          <p:nvPr/>
        </p:nvSpPr>
        <p:spPr>
          <a:xfrm>
            <a:off x="6949440" y="4468290"/>
            <a:ext cx="4526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FFFFFF"/>
                </a:solidFill>
              </a:defRPr>
            </a:lvl1pPr>
          </a:lstStyle>
          <a:p>
            <a:r>
              <a:t>AC unit install — Brooklyn</a:t>
            </a:r>
          </a:p>
        </p:txBody>
      </p:sp>
      <p:sp>
        <p:nvSpPr>
          <p:cNvPr id="257" name="Text 49"/>
          <p:cNvSpPr txBox="1"/>
          <p:nvPr/>
        </p:nvSpPr>
        <p:spPr>
          <a:xfrm>
            <a:off x="6949440" y="4719373"/>
            <a:ext cx="4526281" cy="1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8C2D3"/>
                </a:solidFill>
              </a:defRPr>
            </a:lvl1pPr>
          </a:lstStyle>
          <a:p>
            <a:r>
              <a:t>HVAC · $600–$900 · Booked ✓</a:t>
            </a:r>
          </a:p>
        </p:txBody>
      </p:sp>
      <p:sp>
        <p:nvSpPr>
          <p:cNvPr id="258" name="Shape 50"/>
          <p:cNvSpPr/>
          <p:nvPr/>
        </p:nvSpPr>
        <p:spPr>
          <a:xfrm>
            <a:off x="6766559" y="5349240"/>
            <a:ext cx="4754881" cy="502921"/>
          </a:xfrm>
          <a:prstGeom prst="roundRect">
            <a:avLst>
              <a:gd name="adj" fmla="val 14545"/>
            </a:avLst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Text 51"/>
          <p:cNvSpPr txBox="1"/>
          <p:nvPr/>
        </p:nvSpPr>
        <p:spPr>
          <a:xfrm>
            <a:off x="6766559" y="5533565"/>
            <a:ext cx="47548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0B2545"/>
                </a:solidFill>
              </a:defRPr>
            </a:lvl1pPr>
          </a:lstStyle>
          <a:p>
            <a:r>
              <a:t>Accept application  →  Trigger fires  →  Booking row created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6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264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MVP DEMO 2</a:t>
            </a:r>
          </a:p>
        </p:txBody>
      </p:sp>
      <p:sp>
        <p:nvSpPr>
          <p:cNvPr id="265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7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268" name="Text 6"/>
          <p:cNvSpPr txBox="1"/>
          <p:nvPr/>
        </p:nvSpPr>
        <p:spPr>
          <a:xfrm>
            <a:off x="457200" y="883842"/>
            <a:ext cx="10972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t>LIVE DEMO · MVP #2</a:t>
            </a:r>
          </a:p>
        </p:txBody>
      </p:sp>
      <p:sp>
        <p:nvSpPr>
          <p:cNvPr id="269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Junior Endorsement — Unlocking Job Access</a:t>
            </a:r>
          </a:p>
        </p:txBody>
      </p:sp>
      <p:sp>
        <p:nvSpPr>
          <p:cNvPr id="270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1" name="Text 9"/>
          <p:cNvSpPr txBox="1"/>
          <p:nvPr/>
        </p:nvSpPr>
        <p:spPr>
          <a:xfrm>
            <a:off x="457199" y="2191320"/>
            <a:ext cx="57607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400">
                <a:solidFill>
                  <a:srgbClr val="4FB5C1"/>
                </a:solidFill>
              </a:defRPr>
            </a:lvl1pPr>
          </a:lstStyle>
          <a:p>
            <a:r>
              <a:t>What we'll demo live</a:t>
            </a:r>
          </a:p>
        </p:txBody>
      </p:sp>
      <p:sp>
        <p:nvSpPr>
          <p:cNvPr id="272" name="Text 10"/>
          <p:cNvSpPr txBox="1"/>
          <p:nvPr/>
        </p:nvSpPr>
        <p:spPr>
          <a:xfrm>
            <a:off x="457199" y="2671380"/>
            <a:ext cx="5760722" cy="646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0B2545"/>
                </a:solidFill>
              </a:defRPr>
            </a:lvl1pPr>
          </a:lstStyle>
          <a:p>
            <a:r>
              <a:t>A new junior tradesperson requests endorsement from a verified senior. When the senior approves, a trigger writes the endorse_id back — instantly unlocking the junior's ability to take jobs.</a:t>
            </a:r>
          </a:p>
        </p:txBody>
      </p:sp>
      <p:sp>
        <p:nvSpPr>
          <p:cNvPr id="273" name="Shape 11"/>
          <p:cNvSpPr/>
          <p:nvPr/>
        </p:nvSpPr>
        <p:spPr>
          <a:xfrm>
            <a:off x="457200" y="3657600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4" name="Text 12"/>
          <p:cNvSpPr txBox="1"/>
          <p:nvPr/>
        </p:nvSpPr>
        <p:spPr>
          <a:xfrm>
            <a:off x="457200" y="3764279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</a:t>
            </a:r>
          </a:p>
        </p:txBody>
      </p:sp>
      <p:sp>
        <p:nvSpPr>
          <p:cNvPr id="275" name="Text 13"/>
          <p:cNvSpPr txBox="1"/>
          <p:nvPr/>
        </p:nvSpPr>
        <p:spPr>
          <a:xfrm>
            <a:off x="960119" y="3670607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Junior signs up</a:t>
            </a:r>
          </a:p>
        </p:txBody>
      </p:sp>
      <p:sp>
        <p:nvSpPr>
          <p:cNvPr id="276" name="Text 14"/>
          <p:cNvSpPr txBox="1"/>
          <p:nvPr/>
        </p:nvSpPr>
        <p:spPr>
          <a:xfrm>
            <a:off x="960119" y="3927392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POST /api/auth/register with user_type='Junior'. endorse_id is NULL — they cannot book yet.</a:t>
            </a:r>
          </a:p>
        </p:txBody>
      </p:sp>
      <p:sp>
        <p:nvSpPr>
          <p:cNvPr id="277" name="Shape 15"/>
          <p:cNvSpPr/>
          <p:nvPr/>
        </p:nvSpPr>
        <p:spPr>
          <a:xfrm>
            <a:off x="457200" y="4224528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" name="Text 16"/>
          <p:cNvSpPr txBox="1"/>
          <p:nvPr/>
        </p:nvSpPr>
        <p:spPr>
          <a:xfrm>
            <a:off x="457200" y="4331208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2</a:t>
            </a:r>
          </a:p>
        </p:txBody>
      </p:sp>
      <p:sp>
        <p:nvSpPr>
          <p:cNvPr id="279" name="Text 17"/>
          <p:cNvSpPr txBox="1"/>
          <p:nvPr/>
        </p:nvSpPr>
        <p:spPr>
          <a:xfrm>
            <a:off x="960119" y="4237535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Upload proof</a:t>
            </a:r>
          </a:p>
        </p:txBody>
      </p:sp>
      <p:sp>
        <p:nvSpPr>
          <p:cNvPr id="280" name="Text 18"/>
          <p:cNvSpPr txBox="1"/>
          <p:nvPr/>
        </p:nvSpPr>
        <p:spPr>
          <a:xfrm>
            <a:off x="960119" y="4494320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Multipart upload to /api/documents (path-traversal &amp; MIME-spoof defenses applied).</a:t>
            </a:r>
          </a:p>
        </p:txBody>
      </p:sp>
      <p:sp>
        <p:nvSpPr>
          <p:cNvPr id="281" name="Shape 19"/>
          <p:cNvSpPr/>
          <p:nvPr/>
        </p:nvSpPr>
        <p:spPr>
          <a:xfrm>
            <a:off x="457200" y="4791455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2" name="Text 20"/>
          <p:cNvSpPr txBox="1"/>
          <p:nvPr/>
        </p:nvSpPr>
        <p:spPr>
          <a:xfrm>
            <a:off x="457200" y="4898135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3</a:t>
            </a:r>
          </a:p>
        </p:txBody>
      </p:sp>
      <p:sp>
        <p:nvSpPr>
          <p:cNvPr id="283" name="Text 21"/>
          <p:cNvSpPr txBox="1"/>
          <p:nvPr/>
        </p:nvSpPr>
        <p:spPr>
          <a:xfrm>
            <a:off x="960119" y="4804463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Request endorsement</a:t>
            </a:r>
          </a:p>
        </p:txBody>
      </p:sp>
      <p:sp>
        <p:nvSpPr>
          <p:cNvPr id="284" name="Text 22"/>
          <p:cNvSpPr txBox="1"/>
          <p:nvPr/>
        </p:nvSpPr>
        <p:spPr>
          <a:xfrm>
            <a:off x="960119" y="5061248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POST /api/endorsement-requests, status='pending'.</a:t>
            </a:r>
          </a:p>
        </p:txBody>
      </p:sp>
      <p:sp>
        <p:nvSpPr>
          <p:cNvPr id="285" name="Shape 23"/>
          <p:cNvSpPr/>
          <p:nvPr/>
        </p:nvSpPr>
        <p:spPr>
          <a:xfrm>
            <a:off x="457200" y="5358384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6" name="Text 24"/>
          <p:cNvSpPr txBox="1"/>
          <p:nvPr/>
        </p:nvSpPr>
        <p:spPr>
          <a:xfrm>
            <a:off x="457200" y="5465064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4</a:t>
            </a:r>
          </a:p>
        </p:txBody>
      </p:sp>
      <p:sp>
        <p:nvSpPr>
          <p:cNvPr id="287" name="Text 25"/>
          <p:cNvSpPr txBox="1"/>
          <p:nvPr/>
        </p:nvSpPr>
        <p:spPr>
          <a:xfrm>
            <a:off x="960119" y="5371391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Senior approves</a:t>
            </a:r>
          </a:p>
        </p:txBody>
      </p:sp>
      <p:sp>
        <p:nvSpPr>
          <p:cNvPr id="288" name="Text 26"/>
          <p:cNvSpPr txBox="1"/>
          <p:nvPr/>
        </p:nvSpPr>
        <p:spPr>
          <a:xfrm>
            <a:off x="960119" y="5628176"/>
            <a:ext cx="5212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PATCH status → 'approved'.</a:t>
            </a:r>
          </a:p>
        </p:txBody>
      </p:sp>
      <p:sp>
        <p:nvSpPr>
          <p:cNvPr id="289" name="Shape 27"/>
          <p:cNvSpPr/>
          <p:nvPr/>
        </p:nvSpPr>
        <p:spPr>
          <a:xfrm>
            <a:off x="457200" y="5925311"/>
            <a:ext cx="365761" cy="36576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Text 28"/>
          <p:cNvSpPr txBox="1"/>
          <p:nvPr/>
        </p:nvSpPr>
        <p:spPr>
          <a:xfrm>
            <a:off x="457200" y="6031991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5</a:t>
            </a:r>
          </a:p>
        </p:txBody>
      </p:sp>
      <p:sp>
        <p:nvSpPr>
          <p:cNvPr id="291" name="Text 29"/>
          <p:cNvSpPr txBox="1"/>
          <p:nvPr/>
        </p:nvSpPr>
        <p:spPr>
          <a:xfrm>
            <a:off x="960119" y="5938319"/>
            <a:ext cx="52120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B2545"/>
                </a:solidFill>
              </a:defRPr>
            </a:lvl1pPr>
          </a:lstStyle>
          <a:p>
            <a:r>
              <a:t>Trigger fires</a:t>
            </a:r>
          </a:p>
        </p:txBody>
      </p:sp>
      <p:sp>
        <p:nvSpPr>
          <p:cNvPr id="292" name="Text 30"/>
          <p:cNvSpPr txBox="1"/>
          <p:nvPr/>
        </p:nvSpPr>
        <p:spPr>
          <a:xfrm>
            <a:off x="960119" y="6112554"/>
            <a:ext cx="52120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approve_endorsement_sets_endorse_id writes the senior's tradesperson_id to the junior's row — instant unlock.</a:t>
            </a:r>
          </a:p>
        </p:txBody>
      </p:sp>
      <p:sp>
        <p:nvSpPr>
          <p:cNvPr id="293" name="Shape 31"/>
          <p:cNvSpPr/>
          <p:nvPr/>
        </p:nvSpPr>
        <p:spPr>
          <a:xfrm>
            <a:off x="6492240" y="2011679"/>
            <a:ext cx="5303521" cy="416052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  <a:effectLst>
            <a:outerShdw blurRad="152400" dist="50800" dir="5400000" rotWithShape="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94" name="Shape 32"/>
          <p:cNvSpPr/>
          <p:nvPr/>
        </p:nvSpPr>
        <p:spPr>
          <a:xfrm>
            <a:off x="6492240" y="2011679"/>
            <a:ext cx="5303521" cy="365761"/>
          </a:xfrm>
          <a:prstGeom prst="rect">
            <a:avLst/>
          </a:prstGeom>
          <a:solidFill>
            <a:srgbClr val="13315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5" name="Text 33"/>
          <p:cNvSpPr txBox="1"/>
          <p:nvPr/>
        </p:nvSpPr>
        <p:spPr>
          <a:xfrm>
            <a:off x="6675119" y="2124709"/>
            <a:ext cx="49377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B942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triggers.sql  ·  approve_endorsement_sets_endorse_id</a:t>
            </a:r>
          </a:p>
        </p:txBody>
      </p:sp>
      <p:sp>
        <p:nvSpPr>
          <p:cNvPr id="296" name="Text 34"/>
          <p:cNvSpPr txBox="1"/>
          <p:nvPr/>
        </p:nvSpPr>
        <p:spPr>
          <a:xfrm>
            <a:off x="6720840" y="3398520"/>
            <a:ext cx="4846321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CREATE TRIGGER </a:t>
            </a:r>
            <a:r>
              <a:rPr b="0">
                <a:solidFill>
                  <a:srgbClr val="FFFFFF"/>
                </a:solidFill>
              </a:rPr>
              <a:t>approve_endorsement_sets_endorse_id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AFTER UPDATE </a:t>
            </a:r>
            <a:r>
              <a:rPr b="0">
                <a:solidFill>
                  <a:srgbClr val="FFFFFF"/>
                </a:solidFill>
              </a:rPr>
              <a:t>ON endorsement_requests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FOR EACH ROW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BEGIN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IF </a:t>
            </a:r>
            <a:r>
              <a:rPr b="0">
                <a:solidFill>
                  <a:srgbClr val="FFFFFF"/>
                </a:solidFill>
              </a:rPr>
              <a:t>NEW.status = </a:t>
            </a:r>
            <a:r>
              <a:rPr b="0">
                <a:solidFill>
                  <a:srgbClr val="F4B942"/>
                </a:solidFill>
              </a:rPr>
              <a:t>'approved'</a:t>
            </a:r>
            <a:r>
              <a:t> AND </a:t>
            </a:r>
            <a:r>
              <a:rPr b="0">
                <a:solidFill>
                  <a:srgbClr val="FFFFFF"/>
                </a:solidFill>
              </a:rPr>
              <a:t>OLD.status &lt;&gt; </a:t>
            </a:r>
            <a:r>
              <a:rPr b="0">
                <a:solidFill>
                  <a:srgbClr val="F4B942"/>
                </a:solidFill>
              </a:rPr>
              <a:t>'approved'</a:t>
            </a:r>
            <a:r>
              <a:t> THEN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UPDATE </a:t>
            </a:r>
            <a:r>
              <a:rPr b="0">
                <a:solidFill>
                  <a:srgbClr val="FFFFFF"/>
                </a:solidFill>
              </a:rPr>
              <a:t>tradespeople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SET </a:t>
            </a:r>
            <a:r>
              <a:rPr b="0">
                <a:solidFill>
                  <a:srgbClr val="FFFFFF"/>
                </a:solidFill>
              </a:rPr>
              <a:t>endorse_id = NEW.supervisor_tradesperson_id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WHERE </a:t>
            </a:r>
            <a:r>
              <a:rPr b="0">
                <a:solidFill>
                  <a:srgbClr val="FFFFFF"/>
                </a:solidFill>
              </a:rPr>
              <a:t>tradesperson_id = NEW.junior_tradesperson_id;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END IF;</a:t>
            </a:r>
          </a:p>
          <a:p>
            <a:pPr>
              <a:defRPr sz="10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END;</a:t>
            </a:r>
          </a:p>
        </p:txBody>
      </p:sp>
      <p:sp>
        <p:nvSpPr>
          <p:cNvPr id="297" name="Shape 35"/>
          <p:cNvSpPr/>
          <p:nvPr/>
        </p:nvSpPr>
        <p:spPr>
          <a:xfrm>
            <a:off x="6766559" y="5669279"/>
            <a:ext cx="4754881" cy="365761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8" name="Text 36"/>
          <p:cNvSpPr txBox="1"/>
          <p:nvPr/>
        </p:nvSpPr>
        <p:spPr>
          <a:xfrm>
            <a:off x="6766559" y="5773479"/>
            <a:ext cx="4754881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0B2545"/>
                </a:solidFill>
              </a:defRPr>
            </a:lvl1pPr>
          </a:lstStyle>
          <a:p>
            <a:r>
              <a:t>Approval → endorse_id written → Junior can now be booked ✓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 flipV="1">
            <a:off x="-1" y="-525"/>
            <a:ext cx="12191697" cy="33367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0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59" y="42987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Text 1"/>
          <p:cNvSpPr txBox="1"/>
          <p:nvPr/>
        </p:nvSpPr>
        <p:spPr>
          <a:xfrm>
            <a:off x="709868" y="71006"/>
            <a:ext cx="65532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  <a:r>
              <a:rPr lang="en-US"/>
              <a:t> </a:t>
            </a:r>
            <a:r>
              <a:rPr lang="en-US">
                <a:latin typeface="Georgia"/>
              </a:rPr>
              <a:t>                Relational Model Diagram</a:t>
            </a:r>
            <a:endParaRPr lang="en-US"/>
          </a:p>
        </p:txBody>
      </p:sp>
      <p:sp>
        <p:nvSpPr>
          <p:cNvPr id="303" name="Text 2"/>
          <p:cNvSpPr txBox="1"/>
          <p:nvPr/>
        </p:nvSpPr>
        <p:spPr>
          <a:xfrm>
            <a:off x="7155926" y="111594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DATABASE DESIGN</a:t>
            </a:r>
          </a:p>
        </p:txBody>
      </p:sp>
      <p:sp>
        <p:nvSpPr>
          <p:cNvPr id="304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Text 6"/>
          <p:cNvSpPr txBox="1"/>
          <p:nvPr/>
        </p:nvSpPr>
        <p:spPr>
          <a:xfrm>
            <a:off x="457200" y="883842"/>
            <a:ext cx="10972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t>FINAL SCHEMA · 2NF/3NF</a:t>
            </a:r>
          </a:p>
        </p:txBody>
      </p:sp>
      <p:sp>
        <p:nvSpPr>
          <p:cNvPr id="309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0" name="Shape 9"/>
          <p:cNvSpPr/>
          <p:nvPr/>
        </p:nvSpPr>
        <p:spPr>
          <a:xfrm>
            <a:off x="457200" y="187452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1" name="Shape 10"/>
          <p:cNvSpPr/>
          <p:nvPr/>
        </p:nvSpPr>
        <p:spPr>
          <a:xfrm>
            <a:off x="457200" y="187452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2" name="Text 11"/>
          <p:cNvSpPr txBox="1"/>
          <p:nvPr/>
        </p:nvSpPr>
        <p:spPr>
          <a:xfrm>
            <a:off x="512063" y="1932686"/>
            <a:ext cx="17373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users</a:t>
            </a:r>
          </a:p>
        </p:txBody>
      </p:sp>
      <p:sp>
        <p:nvSpPr>
          <p:cNvPr id="313" name="Text 12"/>
          <p:cNvSpPr txBox="1"/>
          <p:nvPr/>
        </p:nvSpPr>
        <p:spPr>
          <a:xfrm>
            <a:off x="512063" y="2148839"/>
            <a:ext cx="173736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user_id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first_name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last_name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email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user_type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city, state, zip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is_active</a:t>
            </a:r>
          </a:p>
        </p:txBody>
      </p:sp>
      <p:sp>
        <p:nvSpPr>
          <p:cNvPr id="314" name="Shape 13"/>
          <p:cNvSpPr/>
          <p:nvPr/>
        </p:nvSpPr>
        <p:spPr>
          <a:xfrm>
            <a:off x="2514600" y="187452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5" name="Shape 14"/>
          <p:cNvSpPr/>
          <p:nvPr/>
        </p:nvSpPr>
        <p:spPr>
          <a:xfrm>
            <a:off x="2514600" y="187452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6" name="Text 15"/>
          <p:cNvSpPr txBox="1"/>
          <p:nvPr/>
        </p:nvSpPr>
        <p:spPr>
          <a:xfrm>
            <a:off x="2569464" y="1932686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tradespeople</a:t>
            </a:r>
          </a:p>
        </p:txBody>
      </p:sp>
      <p:sp>
        <p:nvSpPr>
          <p:cNvPr id="317" name="Text 16"/>
          <p:cNvSpPr txBox="1"/>
          <p:nvPr/>
        </p:nvSpPr>
        <p:spPr>
          <a:xfrm>
            <a:off x="2569464" y="214883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user_id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trade_category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experience_year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endorse_id*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avg_rating</a:t>
            </a:r>
          </a:p>
        </p:txBody>
      </p:sp>
      <p:sp>
        <p:nvSpPr>
          <p:cNvPr id="318" name="Shape 17"/>
          <p:cNvSpPr/>
          <p:nvPr/>
        </p:nvSpPr>
        <p:spPr>
          <a:xfrm>
            <a:off x="4572000" y="187452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19" name="Shape 18"/>
          <p:cNvSpPr/>
          <p:nvPr/>
        </p:nvSpPr>
        <p:spPr>
          <a:xfrm>
            <a:off x="4572000" y="187452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Text 19"/>
          <p:cNvSpPr txBox="1"/>
          <p:nvPr/>
        </p:nvSpPr>
        <p:spPr>
          <a:xfrm>
            <a:off x="4626864" y="1932686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services</a:t>
            </a:r>
          </a:p>
        </p:txBody>
      </p:sp>
      <p:sp>
        <p:nvSpPr>
          <p:cNvPr id="321" name="Text 20"/>
          <p:cNvSpPr txBox="1"/>
          <p:nvPr/>
        </p:nvSpPr>
        <p:spPr>
          <a:xfrm>
            <a:off x="4626864" y="2148839"/>
            <a:ext cx="17373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service_id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service_name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hourly_rate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trade_type</a:t>
            </a:r>
          </a:p>
        </p:txBody>
      </p:sp>
      <p:sp>
        <p:nvSpPr>
          <p:cNvPr id="322" name="Shape 21"/>
          <p:cNvSpPr/>
          <p:nvPr/>
        </p:nvSpPr>
        <p:spPr>
          <a:xfrm>
            <a:off x="6629400" y="187452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23" name="Shape 22"/>
          <p:cNvSpPr/>
          <p:nvPr/>
        </p:nvSpPr>
        <p:spPr>
          <a:xfrm>
            <a:off x="6629400" y="1874520"/>
            <a:ext cx="1828800" cy="256033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4" name="Text 23"/>
          <p:cNvSpPr txBox="1"/>
          <p:nvPr/>
        </p:nvSpPr>
        <p:spPr>
          <a:xfrm>
            <a:off x="6684264" y="1932686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subscription_plans</a:t>
            </a:r>
          </a:p>
        </p:txBody>
      </p:sp>
      <p:sp>
        <p:nvSpPr>
          <p:cNvPr id="325" name="Text 24"/>
          <p:cNvSpPr txBox="1"/>
          <p:nvPr/>
        </p:nvSpPr>
        <p:spPr>
          <a:xfrm>
            <a:off x="6684264" y="2148839"/>
            <a:ext cx="17373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plan_id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plan_name (Free/Pro/Elite)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monthly_price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job_limit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is_active</a:t>
            </a:r>
          </a:p>
        </p:txBody>
      </p:sp>
      <p:sp>
        <p:nvSpPr>
          <p:cNvPr id="326" name="Shape 25"/>
          <p:cNvSpPr/>
          <p:nvPr/>
        </p:nvSpPr>
        <p:spPr>
          <a:xfrm>
            <a:off x="8686800" y="187452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27" name="Shape 26"/>
          <p:cNvSpPr/>
          <p:nvPr/>
        </p:nvSpPr>
        <p:spPr>
          <a:xfrm>
            <a:off x="8686800" y="1874520"/>
            <a:ext cx="1828800" cy="256033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8" name="Text 27"/>
          <p:cNvSpPr txBox="1"/>
          <p:nvPr/>
        </p:nvSpPr>
        <p:spPr>
          <a:xfrm>
            <a:off x="8741664" y="1932686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subscriptions</a:t>
            </a:r>
          </a:p>
        </p:txBody>
      </p:sp>
      <p:sp>
        <p:nvSpPr>
          <p:cNvPr id="329" name="Text 28"/>
          <p:cNvSpPr txBox="1"/>
          <p:nvPr/>
        </p:nvSpPr>
        <p:spPr>
          <a:xfrm>
            <a:off x="8741664" y="214883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subscription_id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plan_id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price_at_purchase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start_date / end_date</a:t>
            </a:r>
          </a:p>
        </p:txBody>
      </p:sp>
      <p:sp>
        <p:nvSpPr>
          <p:cNvPr id="330" name="Shape 29"/>
          <p:cNvSpPr/>
          <p:nvPr/>
        </p:nvSpPr>
        <p:spPr>
          <a:xfrm>
            <a:off x="10744200" y="1874520"/>
            <a:ext cx="141732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31" name="Shape 30"/>
          <p:cNvSpPr/>
          <p:nvPr/>
        </p:nvSpPr>
        <p:spPr>
          <a:xfrm>
            <a:off x="10744200" y="1874520"/>
            <a:ext cx="1417320" cy="256033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Text 31"/>
          <p:cNvSpPr txBox="1"/>
          <p:nvPr/>
        </p:nvSpPr>
        <p:spPr>
          <a:xfrm>
            <a:off x="10799064" y="1932686"/>
            <a:ext cx="13258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platform_settings</a:t>
            </a:r>
          </a:p>
        </p:txBody>
      </p:sp>
      <p:sp>
        <p:nvSpPr>
          <p:cNvPr id="333" name="Text 32"/>
          <p:cNvSpPr txBox="1"/>
          <p:nvPr/>
        </p:nvSpPr>
        <p:spPr>
          <a:xfrm>
            <a:off x="10799064" y="2148839"/>
            <a:ext cx="132588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setting_id=1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platform_fee_pct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updated_at</a:t>
            </a:r>
          </a:p>
        </p:txBody>
      </p:sp>
      <p:sp>
        <p:nvSpPr>
          <p:cNvPr id="334" name="Shape 33"/>
          <p:cNvSpPr/>
          <p:nvPr/>
        </p:nvSpPr>
        <p:spPr>
          <a:xfrm>
            <a:off x="457200" y="329184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35" name="Shape 34"/>
          <p:cNvSpPr/>
          <p:nvPr/>
        </p:nvSpPr>
        <p:spPr>
          <a:xfrm>
            <a:off x="457200" y="329184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6" name="Text 35"/>
          <p:cNvSpPr txBox="1"/>
          <p:nvPr/>
        </p:nvSpPr>
        <p:spPr>
          <a:xfrm>
            <a:off x="512063" y="3350005"/>
            <a:ext cx="17373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endorsement_requests</a:t>
            </a:r>
          </a:p>
        </p:txBody>
      </p:sp>
      <p:sp>
        <p:nvSpPr>
          <p:cNvPr id="337" name="Text 36"/>
          <p:cNvSpPr txBox="1"/>
          <p:nvPr/>
        </p:nvSpPr>
        <p:spPr>
          <a:xfrm>
            <a:off x="512063" y="3566159"/>
            <a:ext cx="17373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endorsement_request_id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junior_trade_id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supervisor_trade_id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decision_note</a:t>
            </a:r>
          </a:p>
        </p:txBody>
      </p:sp>
      <p:sp>
        <p:nvSpPr>
          <p:cNvPr id="338" name="Shape 37"/>
          <p:cNvSpPr/>
          <p:nvPr/>
        </p:nvSpPr>
        <p:spPr>
          <a:xfrm>
            <a:off x="2514600" y="329184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39" name="Shape 38"/>
          <p:cNvSpPr/>
          <p:nvPr/>
        </p:nvSpPr>
        <p:spPr>
          <a:xfrm>
            <a:off x="2514600" y="329184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Text 39"/>
          <p:cNvSpPr txBox="1"/>
          <p:nvPr/>
        </p:nvSpPr>
        <p:spPr>
          <a:xfrm>
            <a:off x="2569464" y="335000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job_postings</a:t>
            </a:r>
          </a:p>
        </p:txBody>
      </p:sp>
      <p:sp>
        <p:nvSpPr>
          <p:cNvPr id="341" name="Text 40"/>
          <p:cNvSpPr txBox="1"/>
          <p:nvPr/>
        </p:nvSpPr>
        <p:spPr>
          <a:xfrm>
            <a:off x="2569464" y="356615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job_posting_id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employer_id (users)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trade_type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city, budget_min/max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scheduled_at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</p:txBody>
      </p:sp>
      <p:sp>
        <p:nvSpPr>
          <p:cNvPr id="342" name="Shape 41"/>
          <p:cNvSpPr/>
          <p:nvPr/>
        </p:nvSpPr>
        <p:spPr>
          <a:xfrm>
            <a:off x="4572000" y="329184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43" name="Shape 42"/>
          <p:cNvSpPr/>
          <p:nvPr/>
        </p:nvSpPr>
        <p:spPr>
          <a:xfrm>
            <a:off x="4572000" y="329184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4" name="Text 43"/>
          <p:cNvSpPr txBox="1"/>
          <p:nvPr/>
        </p:nvSpPr>
        <p:spPr>
          <a:xfrm>
            <a:off x="4626864" y="335000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job_applications</a:t>
            </a:r>
          </a:p>
        </p:txBody>
      </p:sp>
      <p:sp>
        <p:nvSpPr>
          <p:cNvPr id="345" name="Text 44"/>
          <p:cNvSpPr txBox="1"/>
          <p:nvPr/>
        </p:nvSpPr>
        <p:spPr>
          <a:xfrm>
            <a:off x="4626864" y="356615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application_id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job_posting_id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service_id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proposed_price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</p:txBody>
      </p:sp>
      <p:sp>
        <p:nvSpPr>
          <p:cNvPr id="346" name="Shape 45"/>
          <p:cNvSpPr/>
          <p:nvPr/>
        </p:nvSpPr>
        <p:spPr>
          <a:xfrm>
            <a:off x="6629400" y="329184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47" name="Shape 46"/>
          <p:cNvSpPr/>
          <p:nvPr/>
        </p:nvSpPr>
        <p:spPr>
          <a:xfrm>
            <a:off x="6629400" y="329184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Text 47"/>
          <p:cNvSpPr txBox="1"/>
          <p:nvPr/>
        </p:nvSpPr>
        <p:spPr>
          <a:xfrm>
            <a:off x="6684264" y="335000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bookings</a:t>
            </a:r>
          </a:p>
        </p:txBody>
      </p:sp>
      <p:sp>
        <p:nvSpPr>
          <p:cNvPr id="349" name="Text 48"/>
          <p:cNvSpPr txBox="1"/>
          <p:nvPr/>
        </p:nvSpPr>
        <p:spPr>
          <a:xfrm>
            <a:off x="6684264" y="3566159"/>
            <a:ext cx="173736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booking_id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user_id (employer)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service_id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application_id*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scheduled_at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</p:txBody>
      </p:sp>
      <p:sp>
        <p:nvSpPr>
          <p:cNvPr id="350" name="Shape 49"/>
          <p:cNvSpPr/>
          <p:nvPr/>
        </p:nvSpPr>
        <p:spPr>
          <a:xfrm>
            <a:off x="8686800" y="3291840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51" name="Shape 50"/>
          <p:cNvSpPr/>
          <p:nvPr/>
        </p:nvSpPr>
        <p:spPr>
          <a:xfrm>
            <a:off x="8686800" y="3291840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2" name="Text 51"/>
          <p:cNvSpPr txBox="1"/>
          <p:nvPr/>
        </p:nvSpPr>
        <p:spPr>
          <a:xfrm>
            <a:off x="8741664" y="335000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documents</a:t>
            </a:r>
          </a:p>
        </p:txBody>
      </p:sp>
      <p:sp>
        <p:nvSpPr>
          <p:cNvPr id="353" name="Text 52"/>
          <p:cNvSpPr txBox="1"/>
          <p:nvPr/>
        </p:nvSpPr>
        <p:spPr>
          <a:xfrm>
            <a:off x="8741664" y="356615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document_id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uploaded_by_user_id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storage_filename (UUID)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mime_type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related_entity_type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related_entity_id</a:t>
            </a:r>
          </a:p>
        </p:txBody>
      </p:sp>
      <p:sp>
        <p:nvSpPr>
          <p:cNvPr id="354" name="Shape 53"/>
          <p:cNvSpPr/>
          <p:nvPr/>
        </p:nvSpPr>
        <p:spPr>
          <a:xfrm>
            <a:off x="457200" y="4709159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55" name="Shape 54"/>
          <p:cNvSpPr/>
          <p:nvPr/>
        </p:nvSpPr>
        <p:spPr>
          <a:xfrm>
            <a:off x="457200" y="4709159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6" name="Text 55"/>
          <p:cNvSpPr txBox="1"/>
          <p:nvPr/>
        </p:nvSpPr>
        <p:spPr>
          <a:xfrm>
            <a:off x="512063" y="4767325"/>
            <a:ext cx="17373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review_requests</a:t>
            </a:r>
          </a:p>
        </p:txBody>
      </p:sp>
      <p:sp>
        <p:nvSpPr>
          <p:cNvPr id="357" name="Text 56"/>
          <p:cNvSpPr txBox="1"/>
          <p:nvPr/>
        </p:nvSpPr>
        <p:spPr>
          <a:xfrm>
            <a:off x="512063" y="4983479"/>
            <a:ext cx="17373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review_request_id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booking_id (unique)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employer_id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</p:txBody>
      </p:sp>
      <p:sp>
        <p:nvSpPr>
          <p:cNvPr id="358" name="Shape 57"/>
          <p:cNvSpPr/>
          <p:nvPr/>
        </p:nvSpPr>
        <p:spPr>
          <a:xfrm>
            <a:off x="2514600" y="4709159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59" name="Shape 58"/>
          <p:cNvSpPr/>
          <p:nvPr/>
        </p:nvSpPr>
        <p:spPr>
          <a:xfrm>
            <a:off x="2514600" y="4709159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0" name="Text 59"/>
          <p:cNvSpPr txBox="1"/>
          <p:nvPr/>
        </p:nvSpPr>
        <p:spPr>
          <a:xfrm>
            <a:off x="2569464" y="476732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reviews</a:t>
            </a:r>
          </a:p>
        </p:txBody>
      </p:sp>
      <p:sp>
        <p:nvSpPr>
          <p:cNvPr id="361" name="Text 60"/>
          <p:cNvSpPr txBox="1"/>
          <p:nvPr/>
        </p:nvSpPr>
        <p:spPr>
          <a:xfrm>
            <a:off x="2569464" y="498347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review_id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booking_id (unique)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reviewer_user_id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tradesperson_id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rating (1-5)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comment</a:t>
            </a:r>
          </a:p>
        </p:txBody>
      </p:sp>
      <p:sp>
        <p:nvSpPr>
          <p:cNvPr id="362" name="Shape 61"/>
          <p:cNvSpPr/>
          <p:nvPr/>
        </p:nvSpPr>
        <p:spPr>
          <a:xfrm>
            <a:off x="4572000" y="4709159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3" name="Shape 62"/>
          <p:cNvSpPr/>
          <p:nvPr/>
        </p:nvSpPr>
        <p:spPr>
          <a:xfrm>
            <a:off x="4572000" y="4709159"/>
            <a:ext cx="1828800" cy="25603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4" name="Text 63"/>
          <p:cNvSpPr txBox="1"/>
          <p:nvPr/>
        </p:nvSpPr>
        <p:spPr>
          <a:xfrm>
            <a:off x="4626864" y="476732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payments</a:t>
            </a:r>
          </a:p>
        </p:txBody>
      </p:sp>
      <p:sp>
        <p:nvSpPr>
          <p:cNvPr id="365" name="Text 64"/>
          <p:cNvSpPr txBox="1"/>
          <p:nvPr/>
        </p:nvSpPr>
        <p:spPr>
          <a:xfrm>
            <a:off x="4626864" y="4983479"/>
            <a:ext cx="17373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payment_id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booking_id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amount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method (card/cash/online)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status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paid_at</a:t>
            </a:r>
          </a:p>
        </p:txBody>
      </p:sp>
      <p:sp>
        <p:nvSpPr>
          <p:cNvPr id="366" name="Shape 65"/>
          <p:cNvSpPr/>
          <p:nvPr/>
        </p:nvSpPr>
        <p:spPr>
          <a:xfrm>
            <a:off x="6629400" y="4709159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7" name="Shape 66"/>
          <p:cNvSpPr/>
          <p:nvPr/>
        </p:nvSpPr>
        <p:spPr>
          <a:xfrm>
            <a:off x="6629400" y="4709159"/>
            <a:ext cx="1828800" cy="256033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8" name="Text 67"/>
          <p:cNvSpPr txBox="1"/>
          <p:nvPr/>
        </p:nvSpPr>
        <p:spPr>
          <a:xfrm>
            <a:off x="6684264" y="476732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platform_fees</a:t>
            </a:r>
          </a:p>
        </p:txBody>
      </p:sp>
      <p:sp>
        <p:nvSpPr>
          <p:cNvPr id="369" name="Text 68"/>
          <p:cNvSpPr txBox="1"/>
          <p:nvPr/>
        </p:nvSpPr>
        <p:spPr>
          <a:xfrm>
            <a:off x="6684264" y="4983479"/>
            <a:ext cx="17373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platform_fee_id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payment_id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FK revenue_stream_id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fee_amount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fee_percentage</a:t>
            </a:r>
          </a:p>
        </p:txBody>
      </p:sp>
      <p:sp>
        <p:nvSpPr>
          <p:cNvPr id="370" name="Shape 69"/>
          <p:cNvSpPr/>
          <p:nvPr/>
        </p:nvSpPr>
        <p:spPr>
          <a:xfrm>
            <a:off x="8686800" y="4709159"/>
            <a:ext cx="1828800" cy="123444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1" name="Shape 70"/>
          <p:cNvSpPr/>
          <p:nvPr/>
        </p:nvSpPr>
        <p:spPr>
          <a:xfrm>
            <a:off x="8686800" y="4709159"/>
            <a:ext cx="1828800" cy="256033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2" name="Text 71"/>
          <p:cNvSpPr txBox="1"/>
          <p:nvPr/>
        </p:nvSpPr>
        <p:spPr>
          <a:xfrm>
            <a:off x="8741664" y="4767325"/>
            <a:ext cx="173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revenue_streams</a:t>
            </a:r>
          </a:p>
        </p:txBody>
      </p:sp>
      <p:sp>
        <p:nvSpPr>
          <p:cNvPr id="373" name="Text 72"/>
          <p:cNvSpPr txBox="1"/>
          <p:nvPr/>
        </p:nvSpPr>
        <p:spPr>
          <a:xfrm>
            <a:off x="8741664" y="4983479"/>
            <a:ext cx="173736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PK revenue_stream_id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stream_name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description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is_active</a:t>
            </a:r>
          </a:p>
          <a:p>
            <a:pPr>
              <a:defRPr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(2 rows: Fee + Subs)</a:t>
            </a:r>
          </a:p>
        </p:txBody>
      </p:sp>
      <p:sp>
        <p:nvSpPr>
          <p:cNvPr id="374" name="Shape 73"/>
          <p:cNvSpPr/>
          <p:nvPr/>
        </p:nvSpPr>
        <p:spPr>
          <a:xfrm>
            <a:off x="10744200" y="3291840"/>
            <a:ext cx="1417320" cy="2651761"/>
          </a:xfrm>
          <a:prstGeom prst="rect">
            <a:avLst/>
          </a:prstGeom>
          <a:solidFill>
            <a:srgbClr val="FFFFFF"/>
          </a:solidFill>
          <a:ln>
            <a:solidFill>
              <a:srgbClr val="D6CFBF"/>
            </a:solidFill>
          </a:ln>
          <a:effectLst>
            <a:outerShdw blurRad="63500" dist="12700" dir="5400000" rotWithShape="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5" name="Text 74"/>
          <p:cNvSpPr txBox="1"/>
          <p:nvPr/>
        </p:nvSpPr>
        <p:spPr>
          <a:xfrm>
            <a:off x="10835640" y="3444239"/>
            <a:ext cx="12801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Legend</a:t>
            </a:r>
          </a:p>
        </p:txBody>
      </p:sp>
      <p:sp>
        <p:nvSpPr>
          <p:cNvPr id="376" name="Shape 75"/>
          <p:cNvSpPr/>
          <p:nvPr/>
        </p:nvSpPr>
        <p:spPr>
          <a:xfrm>
            <a:off x="10835640" y="3749040"/>
            <a:ext cx="182881" cy="164593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7" name="Text 76"/>
          <p:cNvSpPr txBox="1"/>
          <p:nvPr/>
        </p:nvSpPr>
        <p:spPr>
          <a:xfrm>
            <a:off x="11064240" y="3758692"/>
            <a:ext cx="1051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0B2545"/>
                </a:solidFill>
              </a:defRPr>
            </a:lvl1pPr>
          </a:lstStyle>
          <a:p>
            <a:r>
              <a:t>Core entity</a:t>
            </a:r>
          </a:p>
        </p:txBody>
      </p:sp>
      <p:sp>
        <p:nvSpPr>
          <p:cNvPr id="378" name="Shape 77"/>
          <p:cNvSpPr/>
          <p:nvPr/>
        </p:nvSpPr>
        <p:spPr>
          <a:xfrm>
            <a:off x="10835640" y="3977640"/>
            <a:ext cx="182881" cy="164593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9" name="Text 78"/>
          <p:cNvSpPr txBox="1"/>
          <p:nvPr/>
        </p:nvSpPr>
        <p:spPr>
          <a:xfrm>
            <a:off x="11064240" y="3987292"/>
            <a:ext cx="1051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0B2545"/>
                </a:solidFill>
              </a:defRPr>
            </a:lvl1pPr>
          </a:lstStyle>
          <a:p>
            <a:r>
              <a:t>Revenue / config</a:t>
            </a:r>
          </a:p>
        </p:txBody>
      </p:sp>
      <p:sp>
        <p:nvSpPr>
          <p:cNvPr id="380" name="Text 79"/>
          <p:cNvSpPr txBox="1"/>
          <p:nvPr/>
        </p:nvSpPr>
        <p:spPr>
          <a:xfrm>
            <a:off x="10835640" y="4328160"/>
            <a:ext cx="1280161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24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15</a:t>
            </a:r>
          </a:p>
          <a:p>
            <a:pPr algn="ctr">
              <a:defRPr sz="90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tables</a:t>
            </a:r>
            <a:endParaRPr sz="2400"/>
          </a:p>
          <a:p>
            <a:pPr algn="ctr">
              <a:defRPr sz="300">
                <a:latin typeface="Georgia"/>
                <a:ea typeface="Georgia"/>
                <a:cs typeface="Georgia"/>
                <a:sym typeface="Georgia"/>
              </a:defRPr>
            </a:pPr>
            <a:r>
              <a:t> </a:t>
            </a:r>
            <a:endParaRPr sz="2400"/>
          </a:p>
          <a:p>
            <a:pPr algn="ctr">
              <a:defRPr sz="24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12</a:t>
            </a:r>
          </a:p>
          <a:p>
            <a:pPr algn="ctr">
              <a:defRPr sz="90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triggers</a:t>
            </a:r>
            <a:endParaRPr sz="2400"/>
          </a:p>
          <a:p>
            <a:pPr algn="ctr">
              <a:defRPr sz="300">
                <a:latin typeface="Georgia"/>
                <a:ea typeface="Georgia"/>
                <a:cs typeface="Georgia"/>
                <a:sym typeface="Georgia"/>
              </a:defRPr>
            </a:pPr>
            <a:r>
              <a:t> </a:t>
            </a:r>
            <a:endParaRPr sz="2400"/>
          </a:p>
          <a:p>
            <a:pPr algn="ctr">
              <a:defRPr sz="20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3NF</a:t>
            </a:r>
            <a:endParaRPr sz="2400"/>
          </a:p>
          <a:p>
            <a:pPr algn="ctr">
              <a:defRPr sz="90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normalized</a:t>
            </a:r>
          </a:p>
        </p:txBody>
      </p:sp>
      <p:sp>
        <p:nvSpPr>
          <p:cNvPr id="381" name="Text 80"/>
          <p:cNvSpPr txBox="1"/>
          <p:nvPr/>
        </p:nvSpPr>
        <p:spPr>
          <a:xfrm>
            <a:off x="457200" y="6126988"/>
            <a:ext cx="10972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94A3B8"/>
                </a:solidFill>
              </a:defRPr>
            </a:lvl1pPr>
          </a:lstStyle>
          <a:p>
            <a:r>
              <a:t>Relationships shown via FK columns. Diagram simplified — full ERD in repo /database/schema.sql.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048DAC-A8E9-8679-EAAD-E1DA77009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2" t="5119" r="3515" b="5221"/>
          <a:stretch>
            <a:fillRect/>
          </a:stretch>
        </p:blipFill>
        <p:spPr>
          <a:xfrm>
            <a:off x="-1474" y="367271"/>
            <a:ext cx="12202291" cy="649208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429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STORED PROCEDURES</a:t>
            </a:r>
          </a:p>
        </p:txBody>
      </p:sp>
      <p:sp>
        <p:nvSpPr>
          <p:cNvPr id="430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2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433" name="Text 6"/>
          <p:cNvSpPr txBox="1"/>
          <p:nvPr/>
        </p:nvSpPr>
        <p:spPr>
          <a:xfrm>
            <a:off x="457200" y="883842"/>
            <a:ext cx="10972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t>DEMONSTRATION · MIN. 2</a:t>
            </a:r>
          </a:p>
        </p:txBody>
      </p:sp>
      <p:sp>
        <p:nvSpPr>
          <p:cNvPr id="434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Stored Procedures &amp; Triggers</a:t>
            </a:r>
          </a:p>
        </p:txBody>
      </p:sp>
      <p:sp>
        <p:nvSpPr>
          <p:cNvPr id="435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6" name="Text 9"/>
          <p:cNvSpPr txBox="1"/>
          <p:nvPr/>
        </p:nvSpPr>
        <p:spPr>
          <a:xfrm>
            <a:off x="457200" y="1990266"/>
            <a:ext cx="113385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0B2545"/>
                </a:solidFill>
              </a:defRPr>
            </a:lvl1pPr>
          </a:lstStyle>
          <a:p>
            <a:r>
              <a:t>We chose triggers — the project requirement allows "stored procedures (including triggers)". Both fire automatically inside MVP flows and prevent invalid state at the DB layer, not just the app layer.</a:t>
            </a:r>
          </a:p>
        </p:txBody>
      </p:sp>
      <p:sp>
        <p:nvSpPr>
          <p:cNvPr id="437" name="Shape 10"/>
          <p:cNvSpPr/>
          <p:nvPr/>
        </p:nvSpPr>
        <p:spPr>
          <a:xfrm>
            <a:off x="457199" y="2331720"/>
            <a:ext cx="5623562" cy="3977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38" name="Shape 11"/>
          <p:cNvSpPr/>
          <p:nvPr/>
        </p:nvSpPr>
        <p:spPr>
          <a:xfrm>
            <a:off x="457199" y="2331720"/>
            <a:ext cx="5623562" cy="73153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9" name="Shape 12"/>
          <p:cNvSpPr/>
          <p:nvPr/>
        </p:nvSpPr>
        <p:spPr>
          <a:xfrm>
            <a:off x="685800" y="2532888"/>
            <a:ext cx="411481" cy="41148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0" name="Text 13"/>
          <p:cNvSpPr txBox="1"/>
          <p:nvPr/>
        </p:nvSpPr>
        <p:spPr>
          <a:xfrm>
            <a:off x="685800" y="2637027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1</a:t>
            </a:r>
          </a:p>
        </p:txBody>
      </p:sp>
      <p:sp>
        <p:nvSpPr>
          <p:cNvPr id="441" name="Text 14"/>
          <p:cNvSpPr txBox="1"/>
          <p:nvPr/>
        </p:nvSpPr>
        <p:spPr>
          <a:xfrm>
            <a:off x="1188720" y="2550160"/>
            <a:ext cx="4709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application_accept_creates_booking</a:t>
            </a:r>
          </a:p>
        </p:txBody>
      </p:sp>
      <p:sp>
        <p:nvSpPr>
          <p:cNvPr id="442" name="Text 15"/>
          <p:cNvSpPr txBox="1"/>
          <p:nvPr/>
        </p:nvSpPr>
        <p:spPr>
          <a:xfrm>
            <a:off x="1188720" y="2826004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475569"/>
                </a:solidFill>
              </a:defRPr>
            </a:lvl1pPr>
          </a:lstStyle>
          <a:p>
            <a:r>
              <a:t>AFTER UPDATE on job_applications</a:t>
            </a:r>
          </a:p>
        </p:txBody>
      </p:sp>
      <p:sp>
        <p:nvSpPr>
          <p:cNvPr id="443" name="Text 16"/>
          <p:cNvSpPr txBox="1"/>
          <p:nvPr/>
        </p:nvSpPr>
        <p:spPr>
          <a:xfrm>
            <a:off x="685799" y="3136899"/>
            <a:ext cx="5166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PURPOSE</a:t>
            </a:r>
          </a:p>
        </p:txBody>
      </p:sp>
      <p:sp>
        <p:nvSpPr>
          <p:cNvPr id="444" name="Text 17"/>
          <p:cNvSpPr txBox="1"/>
          <p:nvPr/>
        </p:nvSpPr>
        <p:spPr>
          <a:xfrm>
            <a:off x="685799" y="3460794"/>
            <a:ext cx="516636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545"/>
                </a:solidFill>
              </a:defRPr>
            </a:lvl1pPr>
          </a:lstStyle>
          <a:p>
            <a:r>
              <a:t>When an employer accepts a tradesperson's application, automatically insert the matching bookings row and close the posting — in one atomic step.</a:t>
            </a:r>
          </a:p>
        </p:txBody>
      </p:sp>
      <p:sp>
        <p:nvSpPr>
          <p:cNvPr id="445" name="Text 18"/>
          <p:cNvSpPr txBox="1"/>
          <p:nvPr/>
        </p:nvSpPr>
        <p:spPr>
          <a:xfrm>
            <a:off x="685799" y="3987292"/>
            <a:ext cx="5166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MVP TIE-IN</a:t>
            </a:r>
          </a:p>
        </p:txBody>
      </p:sp>
      <p:sp>
        <p:nvSpPr>
          <p:cNvPr id="446" name="Text 19"/>
          <p:cNvSpPr txBox="1"/>
          <p:nvPr/>
        </p:nvSpPr>
        <p:spPr>
          <a:xfrm>
            <a:off x="685799" y="4302296"/>
            <a:ext cx="51663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Powers MVP #1 — the 'Accept' button can't forget to create the booking, because the DB does it.</a:t>
            </a:r>
          </a:p>
        </p:txBody>
      </p:sp>
      <p:sp>
        <p:nvSpPr>
          <p:cNvPr id="447" name="Shape 20"/>
          <p:cNvSpPr/>
          <p:nvPr/>
        </p:nvSpPr>
        <p:spPr>
          <a:xfrm>
            <a:off x="685799" y="4663440"/>
            <a:ext cx="5166362" cy="155448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8" name="Text 21"/>
          <p:cNvSpPr txBox="1"/>
          <p:nvPr/>
        </p:nvSpPr>
        <p:spPr>
          <a:xfrm>
            <a:off x="777240" y="4754879"/>
            <a:ext cx="4983480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IF </a:t>
            </a:r>
            <a:r>
              <a:rPr b="0">
                <a:solidFill>
                  <a:srgbClr val="FFFFFF"/>
                </a:solidFill>
              </a:rPr>
              <a:t>NEW.status = </a:t>
            </a:r>
            <a:r>
              <a:rPr b="0">
                <a:solidFill>
                  <a:srgbClr val="F4B942"/>
                </a:solidFill>
              </a:rPr>
              <a:t>'accepted'</a:t>
            </a:r>
            <a:r>
              <a:t> AND </a:t>
            </a:r>
            <a:r>
              <a:rPr b="0">
                <a:solidFill>
                  <a:srgbClr val="FFFFFF"/>
                </a:solidFill>
              </a:rPr>
              <a:t>OLD.status &lt;&gt; </a:t>
            </a:r>
            <a:r>
              <a:rPr b="0">
                <a:solidFill>
                  <a:srgbClr val="F4B942"/>
                </a:solidFill>
              </a:rPr>
              <a:t>'accepted' </a:t>
            </a:r>
            <a:r>
              <a:t>THEN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INSERT INTO bookings (...)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SELECT jp.employer_id, ja.tradesperson_id,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ja.service_id, NEW.application_id,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jp.scheduled_at, </a:t>
            </a:r>
            <a:r>
              <a:rPr>
                <a:solidFill>
                  <a:srgbClr val="F4B942"/>
                </a:solidFill>
              </a:rPr>
              <a:t>'accepted'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FROM job_postings jp JOIN ja ON ...;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UPDATE job_postings SET status=</a:t>
            </a:r>
            <a:r>
              <a:rPr>
                <a:solidFill>
                  <a:srgbClr val="F4B942"/>
                </a:solidFill>
              </a:rPr>
              <a:t>'filled'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WHERE job_posting_id = NEW.job_posting_id;</a:t>
            </a:r>
          </a:p>
          <a:p>
            <a:pPr>
              <a:defRPr sz="9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END IF;</a:t>
            </a:r>
          </a:p>
        </p:txBody>
      </p:sp>
      <p:sp>
        <p:nvSpPr>
          <p:cNvPr id="449" name="Shape 22"/>
          <p:cNvSpPr/>
          <p:nvPr/>
        </p:nvSpPr>
        <p:spPr>
          <a:xfrm>
            <a:off x="6263640" y="2331720"/>
            <a:ext cx="5623561" cy="39776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50" name="Shape 23"/>
          <p:cNvSpPr/>
          <p:nvPr/>
        </p:nvSpPr>
        <p:spPr>
          <a:xfrm>
            <a:off x="6263640" y="2331720"/>
            <a:ext cx="5623561" cy="73153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1" name="Shape 24"/>
          <p:cNvSpPr/>
          <p:nvPr/>
        </p:nvSpPr>
        <p:spPr>
          <a:xfrm>
            <a:off x="6492240" y="2532888"/>
            <a:ext cx="411481" cy="411481"/>
          </a:xfrm>
          <a:prstGeom prst="ellipse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2" name="Text 25"/>
          <p:cNvSpPr txBox="1"/>
          <p:nvPr/>
        </p:nvSpPr>
        <p:spPr>
          <a:xfrm>
            <a:off x="6492240" y="2637027"/>
            <a:ext cx="4114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2</a:t>
            </a:r>
          </a:p>
        </p:txBody>
      </p:sp>
      <p:sp>
        <p:nvSpPr>
          <p:cNvPr id="453" name="Text 26"/>
          <p:cNvSpPr txBox="1"/>
          <p:nvPr/>
        </p:nvSpPr>
        <p:spPr>
          <a:xfrm>
            <a:off x="6995159" y="2550160"/>
            <a:ext cx="47091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update_avg_rating_after_review</a:t>
            </a:r>
          </a:p>
        </p:txBody>
      </p:sp>
      <p:sp>
        <p:nvSpPr>
          <p:cNvPr id="454" name="Text 27"/>
          <p:cNvSpPr txBox="1"/>
          <p:nvPr/>
        </p:nvSpPr>
        <p:spPr>
          <a:xfrm>
            <a:off x="6995159" y="2826004"/>
            <a:ext cx="4709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i="1">
                <a:solidFill>
                  <a:srgbClr val="475569"/>
                </a:solidFill>
              </a:defRPr>
            </a:lvl1pPr>
          </a:lstStyle>
          <a:p>
            <a:r>
              <a:t>AFTER INSERT on reviews</a:t>
            </a:r>
          </a:p>
        </p:txBody>
      </p:sp>
      <p:sp>
        <p:nvSpPr>
          <p:cNvPr id="455" name="Text 28"/>
          <p:cNvSpPr txBox="1"/>
          <p:nvPr/>
        </p:nvSpPr>
        <p:spPr>
          <a:xfrm>
            <a:off x="6492240" y="3136899"/>
            <a:ext cx="5166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PURPOSE</a:t>
            </a:r>
          </a:p>
        </p:txBody>
      </p:sp>
      <p:sp>
        <p:nvSpPr>
          <p:cNvPr id="456" name="Text 29"/>
          <p:cNvSpPr txBox="1"/>
          <p:nvPr/>
        </p:nvSpPr>
        <p:spPr>
          <a:xfrm>
            <a:off x="6492240" y="3460794"/>
            <a:ext cx="51663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545"/>
                </a:solidFill>
              </a:defRPr>
            </a:lvl1pPr>
          </a:lstStyle>
          <a:p>
            <a:r>
              <a:t>When an employer submits a star rating, recompute the affected tradesperson's avg_rating from their full review history and write it back.</a:t>
            </a:r>
          </a:p>
        </p:txBody>
      </p:sp>
      <p:sp>
        <p:nvSpPr>
          <p:cNvPr id="457" name="Text 30"/>
          <p:cNvSpPr txBox="1"/>
          <p:nvPr/>
        </p:nvSpPr>
        <p:spPr>
          <a:xfrm>
            <a:off x="6492240" y="3987292"/>
            <a:ext cx="5166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MVP TIE-IN</a:t>
            </a:r>
          </a:p>
        </p:txBody>
      </p:sp>
      <p:sp>
        <p:nvSpPr>
          <p:cNvPr id="458" name="Text 31"/>
          <p:cNvSpPr txBox="1"/>
          <p:nvPr/>
        </p:nvSpPr>
        <p:spPr>
          <a:xfrm>
            <a:off x="6492240" y="4219746"/>
            <a:ext cx="51663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475569"/>
                </a:solidFill>
              </a:defRPr>
            </a:lvl1pPr>
          </a:lstStyle>
          <a:p>
            <a:r>
              <a:t>Powers the rating shown on every browse card and tradesperson profile — always fresh, always correct.</a:t>
            </a:r>
          </a:p>
        </p:txBody>
      </p:sp>
      <p:sp>
        <p:nvSpPr>
          <p:cNvPr id="459" name="Shape 32"/>
          <p:cNvSpPr/>
          <p:nvPr/>
        </p:nvSpPr>
        <p:spPr>
          <a:xfrm>
            <a:off x="6492240" y="4663440"/>
            <a:ext cx="5166361" cy="155448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0" name="Text 33"/>
          <p:cNvSpPr txBox="1"/>
          <p:nvPr/>
        </p:nvSpPr>
        <p:spPr>
          <a:xfrm>
            <a:off x="6583680" y="4754879"/>
            <a:ext cx="498348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UPDATE</a:t>
            </a:r>
            <a:r>
              <a:rPr b="0">
                <a:solidFill>
                  <a:srgbClr val="FFFFFF"/>
                </a:solidFill>
              </a:rPr>
              <a:t> tradespeople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</a:t>
            </a:r>
            <a:r>
              <a:rPr b="1">
                <a:solidFill>
                  <a:srgbClr val="4FB5C1"/>
                </a:solidFill>
              </a:rPr>
              <a:t>SET</a:t>
            </a:r>
            <a:r>
              <a:t> avg_rating = (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</a:t>
            </a:r>
            <a:r>
              <a:rPr b="1">
                <a:solidFill>
                  <a:srgbClr val="4FB5C1"/>
                </a:solidFill>
              </a:rPr>
              <a:t>SELECT</a:t>
            </a:r>
            <a:r>
              <a:t> ROUND(AVG(rating), 2)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</a:t>
            </a:r>
            <a:r>
              <a:rPr b="1">
                <a:solidFill>
                  <a:srgbClr val="4FB5C1"/>
                </a:solidFill>
              </a:rPr>
              <a:t>FROM</a:t>
            </a:r>
            <a:r>
              <a:t> reviews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</a:t>
            </a:r>
            <a:r>
              <a:rPr b="1">
                <a:solidFill>
                  <a:srgbClr val="4FB5C1"/>
                </a:solidFill>
              </a:rPr>
              <a:t>WHERE</a:t>
            </a:r>
            <a:r>
              <a:t> tradesperson_id = NEW.tradesperson_id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)</a:t>
            </a:r>
          </a:p>
          <a:p>
            <a:pPr>
              <a:defRPr sz="900" b="1">
                <a:solidFill>
                  <a:srgbClr val="4FB5C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WHERE</a:t>
            </a:r>
            <a:r>
              <a:rPr b="0">
                <a:solidFill>
                  <a:srgbClr val="FFFFFF"/>
                </a:solidFill>
              </a:rPr>
              <a:t> tradesperson_id = NEW.tradesperson_id;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8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385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386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REVENUE REPORTING</a:t>
            </a:r>
          </a:p>
        </p:txBody>
      </p:sp>
      <p:sp>
        <p:nvSpPr>
          <p:cNvPr id="387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1E7828-7CD6-BF15-D614-0D17B8DCB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8059"/>
            <a:ext cx="12192000" cy="58098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465" name="Text 2"/>
          <p:cNvSpPr txBox="1"/>
          <p:nvPr/>
        </p:nvSpPr>
        <p:spPr>
          <a:xfrm>
            <a:off x="7162495" y="380922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 spc="400">
                <a:solidFill>
                  <a:srgbClr val="475569"/>
                </a:solidFill>
              </a:defRPr>
            </a:lvl1pPr>
          </a:lstStyle>
          <a:p>
            <a:r>
              <a:t>TAKEAWAYS</a:t>
            </a:r>
          </a:p>
        </p:txBody>
      </p:sp>
      <p:sp>
        <p:nvSpPr>
          <p:cNvPr id="466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8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469" name="Text 6"/>
          <p:cNvSpPr txBox="1"/>
          <p:nvPr/>
        </p:nvSpPr>
        <p:spPr>
          <a:xfrm>
            <a:off x="457200" y="883842"/>
            <a:ext cx="10972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600">
                <a:solidFill>
                  <a:srgbClr val="4FB5C1"/>
                </a:solidFill>
              </a:defRPr>
            </a:lvl1pPr>
          </a:lstStyle>
          <a:p>
            <a:r>
              <a:t>WHAT WE LEARNED</a:t>
            </a:r>
          </a:p>
        </p:txBody>
      </p:sp>
      <p:sp>
        <p:nvSpPr>
          <p:cNvPr id="470" name="Text 7"/>
          <p:cNvSpPr txBox="1"/>
          <p:nvPr/>
        </p:nvSpPr>
        <p:spPr>
          <a:xfrm>
            <a:off x="457200" y="1129951"/>
            <a:ext cx="109728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en-US"/>
              <a:t>Takeaways</a:t>
            </a:r>
          </a:p>
        </p:txBody>
      </p:sp>
      <p:sp>
        <p:nvSpPr>
          <p:cNvPr id="471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2" name="Shape 9"/>
          <p:cNvSpPr/>
          <p:nvPr/>
        </p:nvSpPr>
        <p:spPr>
          <a:xfrm>
            <a:off x="457199" y="1920239"/>
            <a:ext cx="3749042" cy="4069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73" name="Shape 10"/>
          <p:cNvSpPr/>
          <p:nvPr/>
        </p:nvSpPr>
        <p:spPr>
          <a:xfrm>
            <a:off x="457199" y="1920239"/>
            <a:ext cx="3749042" cy="73153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4" name="Shape 11"/>
          <p:cNvSpPr/>
          <p:nvPr/>
        </p:nvSpPr>
        <p:spPr>
          <a:xfrm>
            <a:off x="731519" y="2240279"/>
            <a:ext cx="777241" cy="77724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7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Text 12"/>
          <p:cNvSpPr txBox="1"/>
          <p:nvPr/>
        </p:nvSpPr>
        <p:spPr>
          <a:xfrm>
            <a:off x="731519" y="3228339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NEW TECHNOLOGY</a:t>
            </a:r>
          </a:p>
        </p:txBody>
      </p:sp>
      <p:sp>
        <p:nvSpPr>
          <p:cNvPr id="477" name="Text 13"/>
          <p:cNvSpPr txBox="1"/>
          <p:nvPr/>
        </p:nvSpPr>
        <p:spPr>
          <a:xfrm>
            <a:off x="731519" y="3692397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Triggers as a design tool</a:t>
            </a:r>
          </a:p>
        </p:txBody>
      </p:sp>
      <p:sp>
        <p:nvSpPr>
          <p:cNvPr id="478" name="Text 14"/>
          <p:cNvSpPr txBox="1"/>
          <p:nvPr/>
        </p:nvSpPr>
        <p:spPr>
          <a:xfrm>
            <a:off x="731519" y="4489625"/>
            <a:ext cx="3200401" cy="1124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r>
              <a:t>Before this project we thought of triggers as glorified audit logs. Building this app changed that. Once we moved 'accepting an application creates a booking' into a trigger, every code path that mutated applications automatically did the right thing — including a SQL console session. That's the kind of guarantee app-layer code can't give you.</a:t>
            </a:r>
          </a:p>
        </p:txBody>
      </p:sp>
      <p:sp>
        <p:nvSpPr>
          <p:cNvPr id="479" name="Shape 15"/>
          <p:cNvSpPr/>
          <p:nvPr/>
        </p:nvSpPr>
        <p:spPr>
          <a:xfrm>
            <a:off x="4343400" y="1920239"/>
            <a:ext cx="3749041" cy="4069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80" name="Shape 16"/>
          <p:cNvSpPr/>
          <p:nvPr/>
        </p:nvSpPr>
        <p:spPr>
          <a:xfrm>
            <a:off x="4343400" y="1920239"/>
            <a:ext cx="3749041" cy="73153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1" name="Shape 17"/>
          <p:cNvSpPr/>
          <p:nvPr/>
        </p:nvSpPr>
        <p:spPr>
          <a:xfrm>
            <a:off x="4617720" y="2240279"/>
            <a:ext cx="777241" cy="77724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2316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83" name="Text 18"/>
          <p:cNvSpPr txBox="1"/>
          <p:nvPr/>
        </p:nvSpPr>
        <p:spPr>
          <a:xfrm>
            <a:off x="4617720" y="3228339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AHA MOMENT</a:t>
            </a:r>
          </a:p>
        </p:txBody>
      </p:sp>
      <p:sp>
        <p:nvSpPr>
          <p:cNvPr id="484" name="Text 19"/>
          <p:cNvSpPr txBox="1"/>
          <p:nvPr/>
        </p:nvSpPr>
        <p:spPr>
          <a:xfrm>
            <a:off x="4617720" y="3566826"/>
            <a:ext cx="320040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en-US" dirty="0"/>
              <a:t>3NF</a:t>
            </a:r>
            <a:r>
              <a:rPr dirty="0"/>
              <a:t> </a:t>
            </a:r>
            <a:r>
              <a:rPr lang="en-US" dirty="0"/>
              <a:t>isn't</a:t>
            </a:r>
            <a:r>
              <a:rPr dirty="0"/>
              <a:t> about purity — it's about avoiding silent bugs</a:t>
            </a:r>
          </a:p>
        </p:txBody>
      </p:sp>
      <p:sp>
        <p:nvSpPr>
          <p:cNvPr id="485" name="Text 20"/>
          <p:cNvSpPr txBox="1"/>
          <p:nvPr/>
        </p:nvSpPr>
        <p:spPr>
          <a:xfrm>
            <a:off x="4617720" y="4572175"/>
            <a:ext cx="3200401" cy="95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r>
              <a:t>Snapshotting subscription prices into price_at_purchase felt redundant until we realized: editing a plan price would have silently rewritten history for every past subscriber. Pulling the catalog out into subscription_plans and keeping a snapshot column was the single change that made the schema feel right.</a:t>
            </a:r>
          </a:p>
        </p:txBody>
      </p:sp>
      <p:sp>
        <p:nvSpPr>
          <p:cNvPr id="486" name="Shape 21"/>
          <p:cNvSpPr/>
          <p:nvPr/>
        </p:nvSpPr>
        <p:spPr>
          <a:xfrm>
            <a:off x="8229600" y="1920239"/>
            <a:ext cx="3749041" cy="4069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87" name="Shape 22"/>
          <p:cNvSpPr/>
          <p:nvPr/>
        </p:nvSpPr>
        <p:spPr>
          <a:xfrm>
            <a:off x="8229600" y="1920239"/>
            <a:ext cx="3749041" cy="73153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8" name="Shape 23"/>
          <p:cNvSpPr/>
          <p:nvPr/>
        </p:nvSpPr>
        <p:spPr>
          <a:xfrm>
            <a:off x="8503919" y="2240279"/>
            <a:ext cx="777241" cy="777241"/>
          </a:xfrm>
          <a:prstGeom prst="ellipse">
            <a:avLst/>
          </a:prstGeom>
          <a:solidFill>
            <a:srgbClr val="F4F1EA"/>
          </a:solidFill>
          <a:ln w="19050">
            <a:solidFill>
              <a:srgbClr val="F4B942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9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42316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90" name="Text 24"/>
          <p:cNvSpPr txBox="1"/>
          <p:nvPr/>
        </p:nvSpPr>
        <p:spPr>
          <a:xfrm>
            <a:off x="8503919" y="3164752"/>
            <a:ext cx="3200401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 b="1" spc="400">
                <a:solidFill>
                  <a:srgbClr val="4FB5C1"/>
                </a:solidFill>
              </a:defRPr>
            </a:lvl1pPr>
          </a:lstStyle>
          <a:p>
            <a:r>
              <a:t>WHAT WE'D TELL FUTURE STUDENTS</a:t>
            </a:r>
          </a:p>
        </p:txBody>
      </p:sp>
      <p:sp>
        <p:nvSpPr>
          <p:cNvPr id="491" name="Text 25"/>
          <p:cNvSpPr txBox="1"/>
          <p:nvPr/>
        </p:nvSpPr>
        <p:spPr>
          <a:xfrm>
            <a:off x="8503919" y="3571747"/>
            <a:ext cx="320040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Push invariants down to the DB</a:t>
            </a:r>
          </a:p>
        </p:txBody>
      </p:sp>
      <p:sp>
        <p:nvSpPr>
          <p:cNvPr id="492" name="Text 26"/>
          <p:cNvSpPr txBox="1"/>
          <p:nvPr/>
        </p:nvSpPr>
        <p:spPr>
          <a:xfrm>
            <a:off x="8503919" y="4572175"/>
            <a:ext cx="3200401" cy="95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r>
              <a:t>City matching, time overlap, junior-without-endorsement — all of these started as if-statements in Flask. Every one of them ended up as a BEFORE INSERT/UPDATE trigger. The frontend got smaller, the API got simpler, and the rules can't be bypassed by a stray SQL UPDATE.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9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10896" cy="310897"/>
          </a:xfrm>
          <a:prstGeom prst="rect">
            <a:avLst/>
          </a:prstGeom>
          <a:ln w="12700">
            <a:miter lim="400000"/>
          </a:ln>
        </p:spPr>
      </p:pic>
      <p:sp>
        <p:nvSpPr>
          <p:cNvPr id="496" name="Text 1"/>
          <p:cNvSpPr txBox="1"/>
          <p:nvPr/>
        </p:nvSpPr>
        <p:spPr>
          <a:xfrm>
            <a:off x="841247" y="353376"/>
            <a:ext cx="2743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0B2545"/>
                </a:solidFill>
              </a:defRPr>
            </a:lvl1pPr>
          </a:lstStyle>
          <a:p>
            <a:r>
              <a:t>TradeConnect</a:t>
            </a:r>
          </a:p>
        </p:txBody>
      </p:sp>
      <p:sp>
        <p:nvSpPr>
          <p:cNvPr id="498" name="Shape 3"/>
          <p:cNvSpPr/>
          <p:nvPr/>
        </p:nvSpPr>
        <p:spPr>
          <a:xfrm>
            <a:off x="457199" y="657504"/>
            <a:ext cx="11277297" cy="12701"/>
          </a:xfrm>
          <a:prstGeom prst="rect">
            <a:avLst/>
          </a:prstGeom>
          <a:solidFill>
            <a:srgbClr val="E5DFD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0" name="Text 5"/>
          <p:cNvSpPr txBox="1"/>
          <p:nvPr/>
        </p:nvSpPr>
        <p:spPr>
          <a:xfrm>
            <a:off x="7162495" y="65201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4A3B8"/>
                </a:solidFill>
              </a:defRPr>
            </a:lvl1pPr>
          </a:lstStyle>
          <a:p>
            <a:r>
              <a:t>CSC 33600 · Spring 2026 · Final Presentation</a:t>
            </a:r>
          </a:p>
        </p:txBody>
      </p:sp>
      <p:sp>
        <p:nvSpPr>
          <p:cNvPr id="502" name="Text 7"/>
          <p:cNvSpPr txBox="1"/>
          <p:nvPr/>
        </p:nvSpPr>
        <p:spPr>
          <a:xfrm>
            <a:off x="457200" y="1147572"/>
            <a:ext cx="109728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Extra Credit Work</a:t>
            </a:r>
          </a:p>
        </p:txBody>
      </p:sp>
      <p:sp>
        <p:nvSpPr>
          <p:cNvPr id="503" name="Shape 8"/>
          <p:cNvSpPr/>
          <p:nvPr/>
        </p:nvSpPr>
        <p:spPr>
          <a:xfrm>
            <a:off x="457200" y="1673351"/>
            <a:ext cx="502920" cy="54865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4" name="Text 9"/>
          <p:cNvSpPr txBox="1"/>
          <p:nvPr/>
        </p:nvSpPr>
        <p:spPr>
          <a:xfrm>
            <a:off x="469295" y="1957373"/>
            <a:ext cx="10972800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rgbClr val="475569"/>
                </a:solidFill>
              </a:defRPr>
            </a:lvl1pPr>
          </a:lstStyle>
          <a:p>
            <a:r>
              <a:t>Three categories of bonus work we </a:t>
            </a:r>
            <a:r>
              <a:rPr lang="en-US"/>
              <a:t>did </a:t>
            </a:r>
            <a:r>
              <a:t>on top of the requirements.</a:t>
            </a:r>
          </a:p>
        </p:txBody>
      </p:sp>
      <p:sp>
        <p:nvSpPr>
          <p:cNvPr id="505" name="Shape 10"/>
          <p:cNvSpPr/>
          <p:nvPr/>
        </p:nvSpPr>
        <p:spPr>
          <a:xfrm>
            <a:off x="457199" y="2331720"/>
            <a:ext cx="3749042" cy="3886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06" name="Shape 11"/>
          <p:cNvSpPr/>
          <p:nvPr/>
        </p:nvSpPr>
        <p:spPr>
          <a:xfrm>
            <a:off x="457200" y="2331720"/>
            <a:ext cx="73153" cy="3886201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7" name="Text 12"/>
          <p:cNvSpPr txBox="1"/>
          <p:nvPr/>
        </p:nvSpPr>
        <p:spPr>
          <a:xfrm>
            <a:off x="731519" y="2633979"/>
            <a:ext cx="13716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01</a:t>
            </a:r>
          </a:p>
        </p:txBody>
      </p:sp>
      <p:sp>
        <p:nvSpPr>
          <p:cNvPr id="508" name="Text 13"/>
          <p:cNvSpPr txBox="1"/>
          <p:nvPr/>
        </p:nvSpPr>
        <p:spPr>
          <a:xfrm>
            <a:off x="731519" y="3484879"/>
            <a:ext cx="3200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UX-focused frontend</a:t>
            </a:r>
          </a:p>
        </p:txBody>
      </p:sp>
      <p:sp>
        <p:nvSpPr>
          <p:cNvPr id="509" name="Text 14"/>
          <p:cNvSpPr txBox="1"/>
          <p:nvPr/>
        </p:nvSpPr>
        <p:spPr>
          <a:xfrm>
            <a:off x="731519" y="4467284"/>
            <a:ext cx="3291842" cy="116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/>
          <a:p>
            <a:pPr marL="171450" indent="-171450">
              <a:spcBef>
                <a:spcPts val="600"/>
              </a:spcBef>
              <a:buSzPct val="100000"/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t>22 typed Next.js 14 routes, four role-specific dashboards.</a:t>
            </a:r>
            <a:endParaRPr lang="en-US"/>
          </a:p>
          <a:p>
            <a:pPr marL="171450" indent="-171450">
              <a:spcBef>
                <a:spcPts val="600"/>
              </a:spcBef>
              <a:buSzPct val="100000"/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t>Reviews button auto-hides once a review is submitted (has_review flag joined server-side).</a:t>
            </a:r>
            <a:endParaRPr lang="en-US"/>
          </a:p>
          <a:p>
            <a:pPr marL="171450" indent="-171450">
              <a:spcBef>
                <a:spcPts val="600"/>
              </a:spcBef>
              <a:buSzPct val="100000"/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t>Tailwind design system with consistent card / badge / form primitives.</a:t>
            </a:r>
            <a:endParaRPr lang="en-US"/>
          </a:p>
        </p:txBody>
      </p:sp>
      <p:sp>
        <p:nvSpPr>
          <p:cNvPr id="510" name="Shape 15"/>
          <p:cNvSpPr/>
          <p:nvPr/>
        </p:nvSpPr>
        <p:spPr>
          <a:xfrm>
            <a:off x="4343400" y="2331720"/>
            <a:ext cx="3749041" cy="3886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11" name="Shape 16"/>
          <p:cNvSpPr/>
          <p:nvPr/>
        </p:nvSpPr>
        <p:spPr>
          <a:xfrm>
            <a:off x="4343400" y="2331720"/>
            <a:ext cx="73153" cy="3886201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2" name="Text 17"/>
          <p:cNvSpPr txBox="1"/>
          <p:nvPr/>
        </p:nvSpPr>
        <p:spPr>
          <a:xfrm>
            <a:off x="4617720" y="2633979"/>
            <a:ext cx="13716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02</a:t>
            </a:r>
          </a:p>
        </p:txBody>
      </p:sp>
      <p:sp>
        <p:nvSpPr>
          <p:cNvPr id="513" name="Text 18"/>
          <p:cNvSpPr txBox="1"/>
          <p:nvPr/>
        </p:nvSpPr>
        <p:spPr>
          <a:xfrm>
            <a:off x="4617720" y="3357879"/>
            <a:ext cx="32004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Query optimization &amp; data integrity</a:t>
            </a:r>
          </a:p>
        </p:txBody>
      </p:sp>
      <p:sp>
        <p:nvSpPr>
          <p:cNvPr id="514" name="Text 19"/>
          <p:cNvSpPr txBox="1"/>
          <p:nvPr/>
        </p:nvSpPr>
        <p:spPr>
          <a:xfrm>
            <a:off x="4617720" y="4467284"/>
            <a:ext cx="3291841" cy="116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/>
          <a:p>
            <a:pPr marL="171450" indent="-171450">
              <a:spcBef>
                <a:spcPts val="600"/>
              </a:spcBef>
              <a:buSzPct val="100000"/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t>16 secondary indexes across the hottest join paths (bookings, applications, endorsements).</a:t>
            </a:r>
            <a:endParaRPr lang="en-US"/>
          </a:p>
          <a:p>
            <a:pPr marL="171450" indent="-171450">
              <a:spcBef>
                <a:spcPts val="600"/>
              </a:spcBef>
              <a:buSzPct val="100000"/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t>Generated column + unique key blocks duplicate pending endorsement requests at the DB layer.</a:t>
            </a:r>
            <a:endParaRPr lang="en-US"/>
          </a:p>
          <a:p>
            <a:pPr marL="171450" indent="-171450">
              <a:spcBef>
                <a:spcPts val="600"/>
              </a:spcBef>
              <a:buSzPct val="100000"/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t>All money math done with Python Decimal + ROUND_HALF_UP — never floats.</a:t>
            </a:r>
            <a:endParaRPr lang="en-US"/>
          </a:p>
        </p:txBody>
      </p:sp>
      <p:sp>
        <p:nvSpPr>
          <p:cNvPr id="515" name="Shape 20"/>
          <p:cNvSpPr/>
          <p:nvPr/>
        </p:nvSpPr>
        <p:spPr>
          <a:xfrm>
            <a:off x="8229600" y="2331720"/>
            <a:ext cx="3749041" cy="3886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101600" dist="25400" dir="54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16" name="Shape 21"/>
          <p:cNvSpPr/>
          <p:nvPr/>
        </p:nvSpPr>
        <p:spPr>
          <a:xfrm>
            <a:off x="8229600" y="2331720"/>
            <a:ext cx="73153" cy="3886201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7" name="Text 22"/>
          <p:cNvSpPr txBox="1"/>
          <p:nvPr/>
        </p:nvSpPr>
        <p:spPr>
          <a:xfrm>
            <a:off x="8503919" y="2633979"/>
            <a:ext cx="13716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000" b="1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03</a:t>
            </a:r>
          </a:p>
        </p:txBody>
      </p:sp>
      <p:sp>
        <p:nvSpPr>
          <p:cNvPr id="518" name="Text 23"/>
          <p:cNvSpPr txBox="1"/>
          <p:nvPr/>
        </p:nvSpPr>
        <p:spPr>
          <a:xfrm>
            <a:off x="8503919" y="3350270"/>
            <a:ext cx="320040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lang="en-US"/>
              <a:t>Dockerized deployment workflow</a:t>
            </a:r>
            <a:endParaRPr/>
          </a:p>
        </p:txBody>
      </p:sp>
      <p:sp>
        <p:nvSpPr>
          <p:cNvPr id="519" name="Text 24"/>
          <p:cNvSpPr txBox="1"/>
          <p:nvPr/>
        </p:nvSpPr>
        <p:spPr>
          <a:xfrm>
            <a:off x="8503919" y="4272170"/>
            <a:ext cx="3291841" cy="1523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buSzPct val="100000"/>
              <a:defRPr sz="1100">
                <a:solidFill>
                  <a:srgbClr val="475569"/>
                </a:solidFill>
              </a:defRPr>
            </a:pPr>
            <a:endParaRPr lang="en-US"/>
          </a:p>
          <a:p>
            <a:pPr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rPr lang="en-US">
                <a:ea typeface="+mj-lt"/>
                <a:cs typeface="+mj-lt"/>
              </a:rPr>
              <a:t> Full app runs through Docker containers for consistent local setup.</a:t>
            </a:r>
            <a:endParaRPr lang="en-US"/>
          </a:p>
          <a:p>
            <a:pPr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endParaRPr lang="en-US">
              <a:ea typeface="+mj-lt"/>
              <a:cs typeface="+mj-lt"/>
            </a:endParaRPr>
          </a:p>
          <a:p>
            <a:pPr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rPr lang="en-US">
                <a:ea typeface="+mj-lt"/>
                <a:cs typeface="+mj-lt"/>
              </a:rPr>
              <a:t> Docker separates frontend, backend, and database services for easier testing and handoff.</a:t>
            </a:r>
          </a:p>
          <a:p>
            <a:pPr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endParaRPr lang="en-US">
              <a:ea typeface="+mj-lt"/>
              <a:cs typeface="+mj-lt"/>
            </a:endParaRPr>
          </a:p>
          <a:p>
            <a:pPr>
              <a:buFont typeface="Arial"/>
              <a:buChar char="•"/>
              <a:defRPr sz="1100">
                <a:solidFill>
                  <a:srgbClr val="475569"/>
                </a:solidFill>
              </a:defRPr>
            </a:pPr>
            <a:r>
              <a:rPr lang="en-US">
                <a:ea typeface="+mj-lt"/>
                <a:cs typeface="+mj-lt"/>
              </a:rPr>
              <a:t> Render deployment used for live hosting while Docker remains the main development/runtime environment.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0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2" name="Shape 1"/>
          <p:cNvSpPr/>
          <p:nvPr/>
        </p:nvSpPr>
        <p:spPr>
          <a:xfrm>
            <a:off x="10911534" y="0"/>
            <a:ext cx="164593" cy="6858000"/>
          </a:xfrm>
          <a:prstGeom prst="rect">
            <a:avLst/>
          </a:prstGeom>
          <a:solidFill>
            <a:srgbClr val="F4B94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3" name="Shape 2"/>
          <p:cNvSpPr/>
          <p:nvPr/>
        </p:nvSpPr>
        <p:spPr>
          <a:xfrm>
            <a:off x="11323015" y="0"/>
            <a:ext cx="64009" cy="6858000"/>
          </a:xfrm>
          <a:prstGeom prst="rect">
            <a:avLst/>
          </a:prstGeom>
          <a:solidFill>
            <a:srgbClr val="4FB5C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2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Text 3"/>
          <p:cNvSpPr txBox="1"/>
          <p:nvPr/>
        </p:nvSpPr>
        <p:spPr>
          <a:xfrm>
            <a:off x="1115567" y="633555"/>
            <a:ext cx="4572001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>
                <a:solidFill>
                  <a:srgbClr val="FFFFFF"/>
                </a:solidFill>
              </a:defRPr>
            </a:lvl1pPr>
          </a:lstStyle>
          <a:p>
            <a:r>
              <a:t>TradeConnect</a:t>
            </a:r>
          </a:p>
        </p:txBody>
      </p:sp>
      <p:pic>
        <p:nvPicPr>
          <p:cNvPr id="52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1097281" cy="1097281"/>
          </a:xfrm>
          <a:prstGeom prst="rect">
            <a:avLst/>
          </a:prstGeom>
          <a:ln w="12700">
            <a:miter lim="400000"/>
          </a:ln>
        </p:spPr>
      </p:pic>
      <p:sp>
        <p:nvSpPr>
          <p:cNvPr id="527" name="Text 4"/>
          <p:cNvSpPr txBox="1"/>
          <p:nvPr/>
        </p:nvSpPr>
        <p:spPr>
          <a:xfrm>
            <a:off x="640080" y="3094159"/>
            <a:ext cx="10058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800">
                <a:solidFill>
                  <a:srgbClr val="F4B942"/>
                </a:solidFill>
              </a:defRPr>
            </a:lvl1pPr>
          </a:lstStyle>
          <a:p>
            <a:r>
              <a:t>OPEN FLOOR</a:t>
            </a:r>
          </a:p>
        </p:txBody>
      </p:sp>
      <p:sp>
        <p:nvSpPr>
          <p:cNvPr id="528" name="Text 5"/>
          <p:cNvSpPr txBox="1"/>
          <p:nvPr/>
        </p:nvSpPr>
        <p:spPr>
          <a:xfrm>
            <a:off x="640080" y="3602990"/>
            <a:ext cx="105156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200" b="1" spc="-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Questions &amp; Examination</a:t>
            </a:r>
          </a:p>
        </p:txBody>
      </p:sp>
      <p:sp>
        <p:nvSpPr>
          <p:cNvPr id="529" name="Text 6"/>
          <p:cNvSpPr txBox="1"/>
          <p:nvPr/>
        </p:nvSpPr>
        <p:spPr>
          <a:xfrm>
            <a:off x="640080" y="5071943"/>
            <a:ext cx="96012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E5E1D6"/>
                </a:solidFill>
              </a:defRPr>
            </a:lvl1pPr>
          </a:lstStyle>
          <a:p>
            <a:r>
              <a:t>We've reserved 5–8 minutes for questions from the audience. Ask anything about the schema, the triggers, the revenue logic, the UI, or our team workflow — we'll happily pop open the live app or the SQL console to show you.</a:t>
            </a:r>
          </a:p>
        </p:txBody>
      </p:sp>
      <p:sp>
        <p:nvSpPr>
          <p:cNvPr id="530" name="Shape 7"/>
          <p:cNvSpPr/>
          <p:nvPr/>
        </p:nvSpPr>
        <p:spPr>
          <a:xfrm>
            <a:off x="-1" y="6400800"/>
            <a:ext cx="12191697" cy="457200"/>
          </a:xfrm>
          <a:prstGeom prst="rect">
            <a:avLst/>
          </a:prstGeom>
          <a:solidFill>
            <a:srgbClr val="13315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2" name="Text 9"/>
          <p:cNvSpPr txBox="1"/>
          <p:nvPr/>
        </p:nvSpPr>
        <p:spPr>
          <a:xfrm>
            <a:off x="7162495" y="6562266"/>
            <a:ext cx="43891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 b="1">
                <a:solidFill>
                  <a:srgbClr val="F4B942"/>
                </a:solidFill>
              </a:defRPr>
            </a:lvl1pPr>
          </a:lstStyle>
          <a:p>
            <a:r>
              <a:t>CSC 33600  ·  Spring 2026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10</cp:revision>
  <dcterms:modified xsi:type="dcterms:W3CDTF">2026-05-13T01:07:33Z</dcterms:modified>
</cp:coreProperties>
</file>