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4"/>
    <p:sldMasterId id="214748368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Inter Light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Inter ExtraBold"/>
      <p:bold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InterLight-bold.fntdata"/><Relationship Id="rId21" Type="http://schemas.openxmlformats.org/officeDocument/2006/relationships/font" Target="fonts/InterLight-regular.fntdata"/><Relationship Id="rId24" Type="http://schemas.openxmlformats.org/officeDocument/2006/relationships/font" Target="fonts/InterLight-boldItalic.fntdata"/><Relationship Id="rId23" Type="http://schemas.openxmlformats.org/officeDocument/2006/relationships/font" Target="fonts/Inter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Extra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InterExtra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0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d010a6b10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d010a6b10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d010a6b106_0_3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d010a6b106_0_3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3d010a6b106_0_4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3d010a6b106_0_4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d010a6b106_0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d010a6b106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9607d3f781_5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g39607d3f781_5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g39607d3f781_5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607d3f781_5_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6" name="Google Shape;436;g39607d3f781_5_4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g39607d3f781_5_4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d010a6b106_0_4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5" name="Google Shape;505;g3d010a6b106_0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39608f19364_0_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g39608f19364_0_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g39608f19364_0_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9608f19364_0_151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g39608f19364_0_151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9608f19364_0_151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9608f19364_0_24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0" name="Google Shape;570;g39608f19364_0_243:notes"/>
          <p:cNvSpPr txBox="1"/>
          <p:nvPr>
            <p:ph idx="1" type="body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g39608f19364_0_243:notes"/>
          <p:cNvSpPr txBox="1"/>
          <p:nvPr>
            <p:ph idx="12" type="sldNum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"/>
              <a:buNone/>
              <a:defRPr sz="1800"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12" name="Google Shape;12;p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" name="Google Shape;13;p2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14" name="Google Shape;14;p2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</a:t>
            </a: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Divider Slide">
  <p:cSld name="CUSTOM_3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>
            <p:ph type="title"/>
          </p:nvPr>
        </p:nvSpPr>
        <p:spPr>
          <a:xfrm>
            <a:off x="420875" y="1402000"/>
            <a:ext cx="4324800" cy="24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2" type="title"/>
          </p:nvPr>
        </p:nvSpPr>
        <p:spPr>
          <a:xfrm>
            <a:off x="474350" y="3793500"/>
            <a:ext cx="4036500" cy="115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21" name="Google Shape;21;p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" name="Google Shape;22;p3"/>
          <p:cNvSpPr/>
          <p:nvPr>
            <p:ph idx="3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23" name="Google Shape;23;p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4" name="Google Shape;24;p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sion / Mission" type="secHead">
  <p:cSld name="SECTION_HEADER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>
            <p:ph idx="2" type="pic"/>
          </p:nvPr>
        </p:nvSpPr>
        <p:spPr>
          <a:xfrm>
            <a:off x="5039775" y="203250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cxnSp>
        <p:nvCxnSpPr>
          <p:cNvPr id="28" name="Google Shape;28;p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452575" y="1853525"/>
            <a:ext cx="2965500" cy="244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■"/>
              <a:defRPr/>
            </a:lvl9pPr>
          </a:lstStyle>
          <a:p/>
        </p:txBody>
      </p:sp>
      <p:sp>
        <p:nvSpPr>
          <p:cNvPr id="30" name="Google Shape;30;p4"/>
          <p:cNvSpPr/>
          <p:nvPr>
            <p:ph idx="3" type="pic"/>
          </p:nvPr>
        </p:nvSpPr>
        <p:spPr>
          <a:xfrm>
            <a:off x="5039775" y="2624675"/>
            <a:ext cx="3905400" cy="22986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31" name="Google Shape;31;p4"/>
          <p:cNvSpPr txBox="1"/>
          <p:nvPr>
            <p:ph type="title"/>
          </p:nvPr>
        </p:nvSpPr>
        <p:spPr>
          <a:xfrm>
            <a:off x="452575" y="596800"/>
            <a:ext cx="42636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32" name="Google Shape;32;p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32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/ Divider" type="tx">
  <p:cSld name="TITLE_AND_BODY">
    <p:bg>
      <p:bgPr>
        <a:solidFill>
          <a:schemeClr val="dk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5"/>
          <p:cNvSpPr txBox="1"/>
          <p:nvPr>
            <p:ph type="title"/>
          </p:nvPr>
        </p:nvSpPr>
        <p:spPr>
          <a:xfrm>
            <a:off x="420875" y="1552350"/>
            <a:ext cx="6231300" cy="168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sz="6000"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Inter"/>
              <a:buNone/>
              <a:defRPr b="1"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2" type="title"/>
          </p:nvPr>
        </p:nvSpPr>
        <p:spPr>
          <a:xfrm>
            <a:off x="472350" y="3144800"/>
            <a:ext cx="2965500" cy="16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b="0"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Inter SemiBold"/>
              <a:buNone/>
              <a:defRPr sz="18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" name="Google Shape;39;p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pos="353">
          <p15:clr>
            <a:srgbClr val="E46962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Model" type="twoColTx">
  <p:cSld name="TITLE_AND_TWO_COLUMNS">
    <p:bg>
      <p:bgPr>
        <a:solidFill>
          <a:schemeClr val="dk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44" name="Google Shape;44;p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" name="Google Shape;45;p6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560525" y="37189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4113125" y="37189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8" name="Google Shape;48;p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9" name="Google Shape;49;p6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p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Timeline" type="titleOnly">
  <p:cSld name="TITLE_ONLY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3" name="Google Shape;53;p7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" name="Google Shape;54;p7"/>
          <p:cNvSpPr txBox="1"/>
          <p:nvPr>
            <p:ph type="title"/>
          </p:nvPr>
        </p:nvSpPr>
        <p:spPr>
          <a:xfrm>
            <a:off x="452575" y="596800"/>
            <a:ext cx="6868800" cy="133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55" name="Google Shape;55;p7"/>
          <p:cNvSpPr txBox="1"/>
          <p:nvPr>
            <p:ph idx="1" type="body"/>
          </p:nvPr>
        </p:nvSpPr>
        <p:spPr>
          <a:xfrm>
            <a:off x="589475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6" name="Google Shape;56;p7"/>
          <p:cNvSpPr txBox="1"/>
          <p:nvPr>
            <p:ph idx="2" type="body"/>
          </p:nvPr>
        </p:nvSpPr>
        <p:spPr>
          <a:xfrm>
            <a:off x="26018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7" name="Google Shape;57;p7"/>
          <p:cNvSpPr txBox="1"/>
          <p:nvPr>
            <p:ph idx="3" type="body"/>
          </p:nvPr>
        </p:nvSpPr>
        <p:spPr>
          <a:xfrm>
            <a:off x="460145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8" name="Google Shape;58;p7"/>
          <p:cNvSpPr txBox="1"/>
          <p:nvPr>
            <p:ph idx="4" type="body"/>
          </p:nvPr>
        </p:nvSpPr>
        <p:spPr>
          <a:xfrm>
            <a:off x="6602800" y="2780825"/>
            <a:ext cx="1641300" cy="171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59" name="Google Shape;59;p7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0" name="Google Shape;60;p7"/>
          <p:cNvSpPr txBox="1"/>
          <p:nvPr>
            <p:ph idx="5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" name="Google Shape;61;p7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Advantage">
  <p:cSld name="ONE_COLUMN_TEXT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4" name="Google Shape;64;p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8"/>
          <p:cNvSpPr txBox="1"/>
          <p:nvPr>
            <p:ph type="title"/>
          </p:nvPr>
        </p:nvSpPr>
        <p:spPr>
          <a:xfrm>
            <a:off x="452575" y="596800"/>
            <a:ext cx="4418100" cy="29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66" name="Google Shape;66;p8"/>
          <p:cNvSpPr/>
          <p:nvPr>
            <p:ph idx="2" type="pic"/>
          </p:nvPr>
        </p:nvSpPr>
        <p:spPr>
          <a:xfrm>
            <a:off x="5039775" y="196800"/>
            <a:ext cx="3905400" cy="4749900"/>
          </a:xfrm>
          <a:prstGeom prst="roundRect">
            <a:avLst>
              <a:gd fmla="val 2053" name="adj"/>
            </a:avLst>
          </a:prstGeom>
          <a:noFill/>
          <a:ln>
            <a:noFill/>
          </a:ln>
        </p:spPr>
      </p:sp>
      <p:sp>
        <p:nvSpPr>
          <p:cNvPr id="67" name="Google Shape;67;p8"/>
          <p:cNvSpPr txBox="1"/>
          <p:nvPr>
            <p:ph idx="1" type="body"/>
          </p:nvPr>
        </p:nvSpPr>
        <p:spPr>
          <a:xfrm>
            <a:off x="45257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68" name="Google Shape;68;p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69" name="Google Shape;69;p8"/>
          <p:cNvSpPr txBox="1"/>
          <p:nvPr>
            <p:ph idx="3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0" name="Google Shape;70;p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MAIN_POINT"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>
            <p:ph idx="2" type="pic"/>
          </p:nvPr>
        </p:nvSpPr>
        <p:spPr>
          <a:xfrm>
            <a:off x="5663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73" name="Google Shape;73;p9"/>
          <p:cNvSpPr/>
          <p:nvPr>
            <p:ph idx="3" type="pic"/>
          </p:nvPr>
        </p:nvSpPr>
        <p:spPr>
          <a:xfrm>
            <a:off x="2588275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74" name="Google Shape;74;p9"/>
          <p:cNvSpPr/>
          <p:nvPr>
            <p:ph idx="4" type="pic"/>
          </p:nvPr>
        </p:nvSpPr>
        <p:spPr>
          <a:xfrm>
            <a:off x="4613113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sp>
        <p:nvSpPr>
          <p:cNvPr id="75" name="Google Shape;75;p9"/>
          <p:cNvSpPr/>
          <p:nvPr>
            <p:ph idx="5" type="pic"/>
          </p:nvPr>
        </p:nvSpPr>
        <p:spPr>
          <a:xfrm>
            <a:off x="6637950" y="1569300"/>
            <a:ext cx="1466400" cy="1570200"/>
          </a:xfrm>
          <a:prstGeom prst="roundRect">
            <a:avLst>
              <a:gd fmla="val 6320" name="adj"/>
            </a:avLst>
          </a:prstGeom>
          <a:noFill/>
          <a:ln>
            <a:noFill/>
          </a:ln>
        </p:spPr>
      </p:sp>
      <p:cxnSp>
        <p:nvCxnSpPr>
          <p:cNvPr id="76" name="Google Shape;76;p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" name="Google Shape;77;p9"/>
          <p:cNvSpPr txBox="1"/>
          <p:nvPr>
            <p:ph type="title"/>
          </p:nvPr>
        </p:nvSpPr>
        <p:spPr>
          <a:xfrm>
            <a:off x="450850" y="596800"/>
            <a:ext cx="67677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1" type="subTitle"/>
          </p:nvPr>
        </p:nvSpPr>
        <p:spPr>
          <a:xfrm>
            <a:off x="5663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6" type="subTitle"/>
          </p:nvPr>
        </p:nvSpPr>
        <p:spPr>
          <a:xfrm>
            <a:off x="2588275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7" type="subTitle"/>
          </p:nvPr>
        </p:nvSpPr>
        <p:spPr>
          <a:xfrm>
            <a:off x="4613113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idx="8" type="subTitle"/>
          </p:nvPr>
        </p:nvSpPr>
        <p:spPr>
          <a:xfrm>
            <a:off x="6637950" y="3190975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2" name="Google Shape;82;p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3" name="Google Shape;83;p9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rrent Market / Market Size">
  <p:cSld name="SECTION_TITLE_AND_DESCRIPTION">
    <p:bg>
      <p:bgPr>
        <a:solidFill>
          <a:schemeClr val="dk2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87" name="Google Shape;87;p10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0"/>
          <p:cNvSpPr txBox="1"/>
          <p:nvPr>
            <p:ph idx="1" type="subTitle"/>
          </p:nvPr>
        </p:nvSpPr>
        <p:spPr>
          <a:xfrm>
            <a:off x="675475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9" name="Google Shape;89;p10"/>
          <p:cNvSpPr txBox="1"/>
          <p:nvPr>
            <p:ph idx="2" type="body"/>
          </p:nvPr>
        </p:nvSpPr>
        <p:spPr>
          <a:xfrm>
            <a:off x="604925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3" type="subTitle"/>
          </p:nvPr>
        </p:nvSpPr>
        <p:spPr>
          <a:xfrm>
            <a:off x="3885400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4" type="body"/>
          </p:nvPr>
        </p:nvSpPr>
        <p:spPr>
          <a:xfrm>
            <a:off x="3814850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5" type="subTitle"/>
          </p:nvPr>
        </p:nvSpPr>
        <p:spPr>
          <a:xfrm>
            <a:off x="7024719" y="305590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 SemiBold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6" type="body"/>
          </p:nvPr>
        </p:nvSpPr>
        <p:spPr>
          <a:xfrm>
            <a:off x="6954219" y="36681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type="title"/>
          </p:nvPr>
        </p:nvSpPr>
        <p:spPr>
          <a:xfrm>
            <a:off x="450850" y="596800"/>
            <a:ext cx="6767700" cy="12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5" name="Google Shape;95;p10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6" name="Google Shape;96;p10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Breakdown">
  <p:cSld name="SECTION_TITLE_AND_DESCRIPTION_1"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99" name="Google Shape;99;p11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1"/>
          <p:cNvSpPr txBox="1"/>
          <p:nvPr>
            <p:ph idx="1" type="subTitle"/>
          </p:nvPr>
        </p:nvSpPr>
        <p:spPr>
          <a:xfrm>
            <a:off x="34865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2" type="body"/>
          </p:nvPr>
        </p:nvSpPr>
        <p:spPr>
          <a:xfrm>
            <a:off x="34160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cxnSp>
        <p:nvCxnSpPr>
          <p:cNvPr id="102" name="Google Shape;102;p11"/>
          <p:cNvCxnSpPr>
            <a:endCxn id="103" idx="2"/>
          </p:cNvCxnSpPr>
          <p:nvPr/>
        </p:nvCxnSpPr>
        <p:spPr>
          <a:xfrm>
            <a:off x="2904275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" name="Google Shape;104;p11"/>
          <p:cNvCxnSpPr/>
          <p:nvPr/>
        </p:nvCxnSpPr>
        <p:spPr>
          <a:xfrm>
            <a:off x="4765924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" name="Google Shape;105;p11"/>
          <p:cNvCxnSpPr/>
          <p:nvPr/>
        </p:nvCxnSpPr>
        <p:spPr>
          <a:xfrm>
            <a:off x="6635736" y="2048466"/>
            <a:ext cx="771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" name="Google Shape;103;p11"/>
          <p:cNvSpPr/>
          <p:nvPr/>
        </p:nvSpPr>
        <p:spPr>
          <a:xfrm>
            <a:off x="367617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5548513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7" name="Google Shape;107;p11"/>
          <p:cNvSpPr/>
          <p:nvPr/>
        </p:nvSpPr>
        <p:spPr>
          <a:xfrm>
            <a:off x="7417725" y="1504866"/>
            <a:ext cx="1087200" cy="1087200"/>
          </a:xfrm>
          <a:prstGeom prst="flowChartConnector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8" name="Google Shape;108;p11"/>
          <p:cNvSpPr txBox="1"/>
          <p:nvPr>
            <p:ph idx="3" type="subTitle"/>
          </p:nvPr>
        </p:nvSpPr>
        <p:spPr>
          <a:xfrm>
            <a:off x="535892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4" type="body"/>
          </p:nvPr>
        </p:nvSpPr>
        <p:spPr>
          <a:xfrm>
            <a:off x="528842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5" type="subTitle"/>
          </p:nvPr>
        </p:nvSpPr>
        <p:spPr>
          <a:xfrm>
            <a:off x="7231275" y="2706950"/>
            <a:ext cx="14664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6" type="body"/>
          </p:nvPr>
        </p:nvSpPr>
        <p:spPr>
          <a:xfrm>
            <a:off x="7160775" y="2982325"/>
            <a:ext cx="16074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12" name="Google Shape;112;p11"/>
          <p:cNvSpPr/>
          <p:nvPr/>
        </p:nvSpPr>
        <p:spPr>
          <a:xfrm>
            <a:off x="603475" y="2706950"/>
            <a:ext cx="2313300" cy="1413600"/>
          </a:xfrm>
          <a:prstGeom prst="roundRect">
            <a:avLst>
              <a:gd fmla="val 7414" name="adj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>
              <a:solidFill>
                <a:srgbClr val="F6F5EC"/>
              </a:solidFill>
            </a:endParaRPr>
          </a:p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450850" y="596800"/>
            <a:ext cx="6767700" cy="143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7" type="body"/>
          </p:nvPr>
        </p:nvSpPr>
        <p:spPr>
          <a:xfrm>
            <a:off x="603475" y="2758400"/>
            <a:ext cx="2313300" cy="131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5" name="Google Shape;115;p11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6" name="Google Shape;116;p11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/ Graph">
  <p:cSld name="CAPTION_ONLY">
    <p:bg>
      <p:bgPr>
        <a:solidFill>
          <a:schemeClr val="lt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8" name="Google Shape;118;p12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" name="Google Shape;119;p12"/>
          <p:cNvSpPr txBox="1"/>
          <p:nvPr>
            <p:ph type="title"/>
          </p:nvPr>
        </p:nvSpPr>
        <p:spPr>
          <a:xfrm>
            <a:off x="452575" y="596800"/>
            <a:ext cx="4418100" cy="137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20" name="Google Shape;120;p12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21" name="Google Shape;121;p12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2" name="Google Shape;122;p12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2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Header">
  <p:cSld name="BIG_NUMBER">
    <p:bg>
      <p:bgPr>
        <a:solidFill>
          <a:schemeClr val="dk2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"/>
          <p:cNvSpPr/>
          <p:nvPr>
            <p:ph idx="2" type="pic"/>
          </p:nvPr>
        </p:nvSpPr>
        <p:spPr>
          <a:xfrm>
            <a:off x="213750" y="586950"/>
            <a:ext cx="8701800" cy="2327100"/>
          </a:xfrm>
          <a:prstGeom prst="roundRect">
            <a:avLst>
              <a:gd fmla="val 3913" name="adj"/>
            </a:avLst>
          </a:prstGeom>
          <a:noFill/>
          <a:ln>
            <a:noFill/>
          </a:ln>
        </p:spPr>
      </p:sp>
      <p:sp>
        <p:nvSpPr>
          <p:cNvPr id="126" name="Google Shape;126;p13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7" name="Google Shape;127;p13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" name="Google Shape;128;p13"/>
          <p:cNvSpPr txBox="1"/>
          <p:nvPr>
            <p:ph idx="1" type="body"/>
          </p:nvPr>
        </p:nvSpPr>
        <p:spPr>
          <a:xfrm>
            <a:off x="5362800" y="3071200"/>
            <a:ext cx="3552600" cy="8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29" name="Google Shape;129;p13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0" name="Google Shape;130;p13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-to-Market Strategy" type="blank">
  <p:cSld name="BLANK">
    <p:bg>
      <p:bgPr>
        <a:solidFill>
          <a:schemeClr val="dk1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"/>
          <p:cNvSpPr/>
          <p:nvPr>
            <p:ph idx="2" type="pic"/>
          </p:nvPr>
        </p:nvSpPr>
        <p:spPr>
          <a:xfrm>
            <a:off x="6445900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sp>
        <p:nvSpPr>
          <p:cNvPr id="133" name="Google Shape;133;p14"/>
          <p:cNvSpPr/>
          <p:nvPr>
            <p:ph idx="3" type="pic"/>
          </p:nvPr>
        </p:nvSpPr>
        <p:spPr>
          <a:xfrm>
            <a:off x="4210025" y="626975"/>
            <a:ext cx="1932900" cy="2070000"/>
          </a:xfrm>
          <a:prstGeom prst="roundRect">
            <a:avLst>
              <a:gd fmla="val 5387" name="adj"/>
            </a:avLst>
          </a:prstGeom>
          <a:noFill/>
          <a:ln>
            <a:noFill/>
          </a:ln>
        </p:spPr>
      </p:sp>
      <p:cxnSp>
        <p:nvCxnSpPr>
          <p:cNvPr id="134" name="Google Shape;134;p14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5" name="Google Shape;135;p14"/>
          <p:cNvSpPr txBox="1"/>
          <p:nvPr>
            <p:ph type="title"/>
          </p:nvPr>
        </p:nvSpPr>
        <p:spPr>
          <a:xfrm>
            <a:off x="450850" y="596800"/>
            <a:ext cx="4083000" cy="18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Inter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6" name="Google Shape;136;p14"/>
          <p:cNvSpPr txBox="1"/>
          <p:nvPr>
            <p:ph idx="1" type="subTitle"/>
          </p:nvPr>
        </p:nvSpPr>
        <p:spPr>
          <a:xfrm>
            <a:off x="4210025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7" name="Google Shape;137;p14"/>
          <p:cNvSpPr txBox="1"/>
          <p:nvPr>
            <p:ph idx="4" type="body"/>
          </p:nvPr>
        </p:nvSpPr>
        <p:spPr>
          <a:xfrm>
            <a:off x="4210025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8" name="Google Shape;138;p14"/>
          <p:cNvSpPr txBox="1"/>
          <p:nvPr>
            <p:ph idx="5" type="subTitle"/>
          </p:nvPr>
        </p:nvSpPr>
        <p:spPr>
          <a:xfrm>
            <a:off x="6458950" y="2802675"/>
            <a:ext cx="19068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ter SemiBold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9" name="Google Shape;139;p14"/>
          <p:cNvSpPr txBox="1"/>
          <p:nvPr>
            <p:ph idx="6" type="body"/>
          </p:nvPr>
        </p:nvSpPr>
        <p:spPr>
          <a:xfrm>
            <a:off x="6458950" y="3441550"/>
            <a:ext cx="1607400" cy="106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●"/>
              <a:defRPr>
                <a:solidFill>
                  <a:schemeClr val="lt2"/>
                </a:solidFill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○"/>
              <a:defRPr>
                <a:solidFill>
                  <a:schemeClr val="lt2"/>
                </a:solidFill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Inter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40" name="Google Shape;140;p14"/>
          <p:cNvSpPr txBox="1"/>
          <p:nvPr>
            <p:ph idx="7" type="body"/>
          </p:nvPr>
        </p:nvSpPr>
        <p:spPr>
          <a:xfrm>
            <a:off x="450850" y="2399275"/>
            <a:ext cx="3048000" cy="211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1" name="Google Shape;141;p14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2" name="Google Shape;142;p14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3" name="Google Shape;143;p14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TITLE_1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5" name="Google Shape;145;p15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6" name="Google Shape;146;p15"/>
          <p:cNvSpPr txBox="1"/>
          <p:nvPr>
            <p:ph type="title"/>
          </p:nvPr>
        </p:nvSpPr>
        <p:spPr>
          <a:xfrm>
            <a:off x="452575" y="596800"/>
            <a:ext cx="44181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47" name="Google Shape;147;p15"/>
          <p:cNvSpPr txBox="1"/>
          <p:nvPr>
            <p:ph idx="1" type="subTitle"/>
          </p:nvPr>
        </p:nvSpPr>
        <p:spPr>
          <a:xfrm>
            <a:off x="46782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48" name="Google Shape;148;p15"/>
          <p:cNvSpPr txBox="1"/>
          <p:nvPr>
            <p:ph idx="2" type="body"/>
          </p:nvPr>
        </p:nvSpPr>
        <p:spPr>
          <a:xfrm>
            <a:off x="39162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49" name="Google Shape;149;p15"/>
          <p:cNvSpPr txBox="1"/>
          <p:nvPr>
            <p:ph idx="3" type="subTitle"/>
          </p:nvPr>
        </p:nvSpPr>
        <p:spPr>
          <a:xfrm>
            <a:off x="3052450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0" name="Google Shape;150;p15"/>
          <p:cNvSpPr txBox="1"/>
          <p:nvPr>
            <p:ph idx="4" type="body"/>
          </p:nvPr>
        </p:nvSpPr>
        <p:spPr>
          <a:xfrm>
            <a:off x="2976250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idx="5" type="subTitle"/>
          </p:nvPr>
        </p:nvSpPr>
        <p:spPr>
          <a:xfrm>
            <a:off x="5637075" y="18573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2" name="Google Shape;152;p15"/>
          <p:cNvSpPr txBox="1"/>
          <p:nvPr>
            <p:ph idx="6" type="body"/>
          </p:nvPr>
        </p:nvSpPr>
        <p:spPr>
          <a:xfrm>
            <a:off x="5560875" y="22718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3" name="Google Shape;153;p15"/>
          <p:cNvSpPr txBox="1"/>
          <p:nvPr>
            <p:ph idx="7" type="subTitle"/>
          </p:nvPr>
        </p:nvSpPr>
        <p:spPr>
          <a:xfrm>
            <a:off x="46782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4" name="Google Shape;154;p15"/>
          <p:cNvSpPr txBox="1"/>
          <p:nvPr>
            <p:ph idx="8" type="body"/>
          </p:nvPr>
        </p:nvSpPr>
        <p:spPr>
          <a:xfrm>
            <a:off x="39162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5" name="Google Shape;155;p15"/>
          <p:cNvSpPr txBox="1"/>
          <p:nvPr>
            <p:ph idx="9" type="subTitle"/>
          </p:nvPr>
        </p:nvSpPr>
        <p:spPr>
          <a:xfrm>
            <a:off x="3052450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6" name="Google Shape;156;p15"/>
          <p:cNvSpPr txBox="1"/>
          <p:nvPr>
            <p:ph idx="13" type="body"/>
          </p:nvPr>
        </p:nvSpPr>
        <p:spPr>
          <a:xfrm>
            <a:off x="2976250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7" name="Google Shape;157;p15"/>
          <p:cNvSpPr txBox="1"/>
          <p:nvPr>
            <p:ph idx="14" type="subTitle"/>
          </p:nvPr>
        </p:nvSpPr>
        <p:spPr>
          <a:xfrm>
            <a:off x="5637075" y="3075100"/>
            <a:ext cx="2151000" cy="77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58" name="Google Shape;158;p15"/>
          <p:cNvSpPr txBox="1"/>
          <p:nvPr>
            <p:ph idx="15" type="body"/>
          </p:nvPr>
        </p:nvSpPr>
        <p:spPr>
          <a:xfrm>
            <a:off x="5560875" y="3489625"/>
            <a:ext cx="21510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59" name="Google Shape;159;p15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0" name="Google Shape;160;p15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 / Benefits">
  <p:cSld name="CUSTOM"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4" name="Google Shape;164;p16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16"/>
          <p:cNvSpPr txBox="1"/>
          <p:nvPr>
            <p:ph type="title"/>
          </p:nvPr>
        </p:nvSpPr>
        <p:spPr>
          <a:xfrm>
            <a:off x="452575" y="633600"/>
            <a:ext cx="3954600" cy="131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 b="1"/>
            </a:lvl9pPr>
          </a:lstStyle>
          <a:p/>
        </p:txBody>
      </p:sp>
      <p:sp>
        <p:nvSpPr>
          <p:cNvPr id="166" name="Google Shape;166;p16"/>
          <p:cNvSpPr txBox="1"/>
          <p:nvPr>
            <p:ph idx="1" type="body"/>
          </p:nvPr>
        </p:nvSpPr>
        <p:spPr>
          <a:xfrm>
            <a:off x="560525" y="1966775"/>
            <a:ext cx="3212700" cy="208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67" name="Google Shape;167;p16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8" name="Google Shape;168;p16"/>
          <p:cNvSpPr txBox="1"/>
          <p:nvPr>
            <p:ph idx="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accen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9" name="Google Shape;169;p16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Images">
  <p:cSld name="CUSTOM_1">
    <p:bg>
      <p:bgPr>
        <a:solidFill>
          <a:schemeClr val="dk2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7"/>
          <p:cNvSpPr/>
          <p:nvPr>
            <p:ph idx="2" type="pic"/>
          </p:nvPr>
        </p:nvSpPr>
        <p:spPr>
          <a:xfrm>
            <a:off x="2118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  <p:sp>
        <p:nvSpPr>
          <p:cNvPr id="172" name="Google Shape;172;p17"/>
          <p:cNvSpPr/>
          <p:nvPr>
            <p:ph idx="3" type="pic"/>
          </p:nvPr>
        </p:nvSpPr>
        <p:spPr>
          <a:xfrm>
            <a:off x="4639750" y="203250"/>
            <a:ext cx="4292400" cy="4737000"/>
          </a:xfrm>
          <a:prstGeom prst="roundRect">
            <a:avLst>
              <a:gd fmla="val 3358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e Competition">
  <p:cSld name="CUSTOM_2">
    <p:bg>
      <p:bgPr>
        <a:solidFill>
          <a:schemeClr val="lt1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/>
          <p:nvPr>
            <p:ph idx="2" type="pic"/>
          </p:nvPr>
        </p:nvSpPr>
        <p:spPr>
          <a:xfrm>
            <a:off x="40147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5" name="Google Shape;175;p18"/>
          <p:cNvSpPr/>
          <p:nvPr>
            <p:ph idx="3" type="pic"/>
          </p:nvPr>
        </p:nvSpPr>
        <p:spPr>
          <a:xfrm>
            <a:off x="568857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6" name="Google Shape;176;p18"/>
          <p:cNvSpPr/>
          <p:nvPr>
            <p:ph idx="4" type="pic"/>
          </p:nvPr>
        </p:nvSpPr>
        <p:spPr>
          <a:xfrm>
            <a:off x="7362425" y="5573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7" name="Google Shape;177;p18"/>
          <p:cNvSpPr/>
          <p:nvPr>
            <p:ph idx="5" type="pic"/>
          </p:nvPr>
        </p:nvSpPr>
        <p:spPr>
          <a:xfrm>
            <a:off x="40147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8" name="Google Shape;178;p18"/>
          <p:cNvSpPr/>
          <p:nvPr>
            <p:ph idx="6" type="pic"/>
          </p:nvPr>
        </p:nvSpPr>
        <p:spPr>
          <a:xfrm>
            <a:off x="568857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sp>
        <p:nvSpPr>
          <p:cNvPr id="179" name="Google Shape;179;p18"/>
          <p:cNvSpPr/>
          <p:nvPr>
            <p:ph idx="7" type="pic"/>
          </p:nvPr>
        </p:nvSpPr>
        <p:spPr>
          <a:xfrm>
            <a:off x="7362425" y="2644475"/>
            <a:ext cx="1374300" cy="1471500"/>
          </a:xfrm>
          <a:prstGeom prst="roundRect">
            <a:avLst>
              <a:gd fmla="val 7582" name="adj"/>
            </a:avLst>
          </a:prstGeom>
          <a:noFill/>
          <a:ln>
            <a:noFill/>
          </a:ln>
        </p:spPr>
      </p:sp>
      <p:cxnSp>
        <p:nvCxnSpPr>
          <p:cNvPr id="180" name="Google Shape;180;p18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18"/>
          <p:cNvSpPr txBox="1"/>
          <p:nvPr>
            <p:ph type="title"/>
          </p:nvPr>
        </p:nvSpPr>
        <p:spPr>
          <a:xfrm>
            <a:off x="452575" y="596800"/>
            <a:ext cx="3262500" cy="135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200"/>
              <a:buFont typeface="Inter"/>
              <a:buNone/>
              <a:defRPr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Font typeface="Inter"/>
              <a:buNone/>
              <a:defRPr b="1" sz="4800"/>
            </a:lvl9pPr>
          </a:lstStyle>
          <a:p/>
        </p:txBody>
      </p:sp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452575" y="1956400"/>
            <a:ext cx="26160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3" name="Google Shape;183;p18"/>
          <p:cNvSpPr txBox="1"/>
          <p:nvPr>
            <p:ph idx="8" type="body"/>
          </p:nvPr>
        </p:nvSpPr>
        <p:spPr>
          <a:xfrm>
            <a:off x="467825" y="2583700"/>
            <a:ext cx="3247200" cy="9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●"/>
              <a:defRPr/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○"/>
              <a:defRPr/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Inter"/>
              <a:buChar char="■"/>
              <a:defRPr/>
            </a:lvl9pPr>
          </a:lstStyle>
          <a:p/>
        </p:txBody>
      </p:sp>
      <p:sp>
        <p:nvSpPr>
          <p:cNvPr id="184" name="Google Shape;184;p18"/>
          <p:cNvSpPr txBox="1"/>
          <p:nvPr>
            <p:ph idx="9" type="subTitle"/>
          </p:nvPr>
        </p:nvSpPr>
        <p:spPr>
          <a:xfrm>
            <a:off x="40147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5" name="Google Shape;185;p18"/>
          <p:cNvSpPr txBox="1"/>
          <p:nvPr>
            <p:ph idx="13" type="subTitle"/>
          </p:nvPr>
        </p:nvSpPr>
        <p:spPr>
          <a:xfrm>
            <a:off x="568857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6" name="Google Shape;186;p18"/>
          <p:cNvSpPr txBox="1"/>
          <p:nvPr>
            <p:ph idx="14" type="subTitle"/>
          </p:nvPr>
        </p:nvSpPr>
        <p:spPr>
          <a:xfrm>
            <a:off x="7362425" y="202887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7" name="Google Shape;187;p18"/>
          <p:cNvSpPr txBox="1"/>
          <p:nvPr>
            <p:ph idx="15" type="subTitle"/>
          </p:nvPr>
        </p:nvSpPr>
        <p:spPr>
          <a:xfrm>
            <a:off x="40147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8" name="Google Shape;188;p18"/>
          <p:cNvSpPr txBox="1"/>
          <p:nvPr>
            <p:ph idx="16" type="subTitle"/>
          </p:nvPr>
        </p:nvSpPr>
        <p:spPr>
          <a:xfrm>
            <a:off x="568857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89" name="Google Shape;189;p18"/>
          <p:cNvSpPr txBox="1"/>
          <p:nvPr>
            <p:ph idx="17" type="subTitle"/>
          </p:nvPr>
        </p:nvSpPr>
        <p:spPr>
          <a:xfrm>
            <a:off x="7362425" y="4067725"/>
            <a:ext cx="1374300" cy="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Font typeface="Inter SemiBold"/>
              <a:buNone/>
              <a:defRPr sz="1600"/>
            </a:lvl9pPr>
          </a:lstStyle>
          <a:p/>
        </p:txBody>
      </p:sp>
      <p:sp>
        <p:nvSpPr>
          <p:cNvPr id="190" name="Google Shape;190;p18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" name="Google Shape;191;p18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rtl="0" algn="ctr">
              <a:buNone/>
              <a:defRPr sz="8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allery">
  <p:cSld name="CUSTOM_1_1">
    <p:bg>
      <p:bgPr>
        <a:solidFill>
          <a:schemeClr val="dk2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9"/>
          <p:cNvSpPr/>
          <p:nvPr>
            <p:ph idx="2" type="pic"/>
          </p:nvPr>
        </p:nvSpPr>
        <p:spPr>
          <a:xfrm>
            <a:off x="2286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195" name="Google Shape;195;p19"/>
          <p:cNvSpPr/>
          <p:nvPr>
            <p:ph idx="3" type="pic"/>
          </p:nvPr>
        </p:nvSpPr>
        <p:spPr>
          <a:xfrm>
            <a:off x="3931925" y="59262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196" name="Google Shape;196;p19"/>
          <p:cNvSpPr/>
          <p:nvPr>
            <p:ph idx="4" type="pic"/>
          </p:nvPr>
        </p:nvSpPr>
        <p:spPr>
          <a:xfrm>
            <a:off x="7635600" y="59262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197" name="Google Shape;197;p19"/>
          <p:cNvSpPr/>
          <p:nvPr>
            <p:ph idx="5" type="pic"/>
          </p:nvPr>
        </p:nvSpPr>
        <p:spPr>
          <a:xfrm>
            <a:off x="25753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8" name="Google Shape;198;p19"/>
          <p:cNvSpPr/>
          <p:nvPr>
            <p:ph idx="6" type="pic"/>
          </p:nvPr>
        </p:nvSpPr>
        <p:spPr>
          <a:xfrm>
            <a:off x="6278800" y="59322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99" name="Google Shape;199;p19"/>
          <p:cNvSpPr/>
          <p:nvPr>
            <p:ph idx="7" type="pic"/>
          </p:nvPr>
        </p:nvSpPr>
        <p:spPr>
          <a:xfrm>
            <a:off x="2286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0" name="Google Shape;200;p19"/>
          <p:cNvSpPr/>
          <p:nvPr>
            <p:ph idx="8" type="pic"/>
          </p:nvPr>
        </p:nvSpPr>
        <p:spPr>
          <a:xfrm>
            <a:off x="1545425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1" name="Google Shape;201;p19"/>
          <p:cNvSpPr/>
          <p:nvPr>
            <p:ph idx="9" type="pic"/>
          </p:nvPr>
        </p:nvSpPr>
        <p:spPr>
          <a:xfrm>
            <a:off x="3932063" y="1963950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2" name="Google Shape;202;p19"/>
          <p:cNvSpPr/>
          <p:nvPr>
            <p:ph idx="13" type="pic"/>
          </p:nvPr>
        </p:nvSpPr>
        <p:spPr>
          <a:xfrm>
            <a:off x="5248888" y="1963950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3" name="Google Shape;203;p19"/>
          <p:cNvSpPr/>
          <p:nvPr>
            <p:ph idx="14" type="pic"/>
          </p:nvPr>
        </p:nvSpPr>
        <p:spPr>
          <a:xfrm>
            <a:off x="7555713" y="1964250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4" name="Google Shape;204;p19"/>
          <p:cNvSpPr/>
          <p:nvPr>
            <p:ph idx="15" type="pic"/>
          </p:nvPr>
        </p:nvSpPr>
        <p:spPr>
          <a:xfrm>
            <a:off x="2286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5" name="Google Shape;205;p19"/>
          <p:cNvSpPr/>
          <p:nvPr>
            <p:ph idx="16" type="pic"/>
          </p:nvPr>
        </p:nvSpPr>
        <p:spPr>
          <a:xfrm>
            <a:off x="3931925" y="3335275"/>
            <a:ext cx="22050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6" name="Google Shape;206;p19"/>
          <p:cNvSpPr/>
          <p:nvPr>
            <p:ph idx="17" type="pic"/>
          </p:nvPr>
        </p:nvSpPr>
        <p:spPr>
          <a:xfrm>
            <a:off x="7635600" y="3335275"/>
            <a:ext cx="1135200" cy="1215600"/>
          </a:xfrm>
          <a:prstGeom prst="roundRect">
            <a:avLst>
              <a:gd fmla="val 3655" name="adj"/>
            </a:avLst>
          </a:prstGeom>
          <a:noFill/>
          <a:ln>
            <a:noFill/>
          </a:ln>
        </p:spPr>
      </p:sp>
      <p:sp>
        <p:nvSpPr>
          <p:cNvPr id="207" name="Google Shape;207;p19"/>
          <p:cNvSpPr/>
          <p:nvPr>
            <p:ph idx="18" type="pic"/>
          </p:nvPr>
        </p:nvSpPr>
        <p:spPr>
          <a:xfrm>
            <a:off x="25753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8" name="Google Shape;208;p19"/>
          <p:cNvSpPr/>
          <p:nvPr>
            <p:ph idx="19" type="pic"/>
          </p:nvPr>
        </p:nvSpPr>
        <p:spPr>
          <a:xfrm>
            <a:off x="6278800" y="3335875"/>
            <a:ext cx="1215000" cy="1215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09" name="Google Shape;209;p19"/>
          <p:cNvSpPr txBox="1"/>
          <p:nvPr/>
        </p:nvSpPr>
        <p:spPr>
          <a:xfrm>
            <a:off x="420872" y="203200"/>
            <a:ext cx="42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rPr>
              <a:t>‹#›</a:t>
            </a:fld>
            <a:endParaRPr sz="800">
              <a:solidFill>
                <a:schemeClr val="lt2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210" name="Google Shape;210;p19"/>
          <p:cNvCxnSpPr/>
          <p:nvPr/>
        </p:nvCxnSpPr>
        <p:spPr>
          <a:xfrm rot="10800000">
            <a:off x="560525" y="279400"/>
            <a:ext cx="1494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1" name="Google Shape;211;p19"/>
          <p:cNvSpPr/>
          <p:nvPr/>
        </p:nvSpPr>
        <p:spPr>
          <a:xfrm>
            <a:off x="603475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Confidential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1644650" y="4749800"/>
            <a:ext cx="768000" cy="1905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7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rPr>
              <a:t>Copyright ©</a:t>
            </a:r>
            <a:endParaRPr sz="700">
              <a:solidFill>
                <a:schemeClr val="lt2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5" name="Google Shape;215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6" name="Google Shape;21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9" name="Google Shape;21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3" name="Google Shape;22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7" name="Google Shape;227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1" name="Google Shape;23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2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35" name="Google Shape;235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42" name="Google Shape;242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44" name="Google Shape;244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  <p:sp>
        <p:nvSpPr>
          <p:cNvPr id="247" name="Google Shape;24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2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51" name="Google Shape;251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">
  <p:cSld name="BLANK_1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56" name="Google Shape;25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8" name="Google Shape;258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59" name="Google Shape;259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0" name="Google Shape;260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1" name="Google Shape;261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62" name="Google Shape;262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65" name="Google Shape;265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6" name="Google Shape;266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267" name="Google Shape;267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2"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0" name="Google Shape;270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71" name="Google Shape;271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2" name="Google Shape;272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3" name="Google Shape;273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74" name="Google Shape;274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7" name="Google Shape;277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8" name="Google Shape;278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0" name="Google Shape;280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81" name="Google Shape;281;p34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2" name="Google Shape;282;p34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3" name="Google Shape;283;p34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6" name="Google Shape;286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7" name="Google Shape;287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8" name="Google Shape;288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89" name="Google Shape;289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0" name="Google Shape;290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291" name="Google Shape;291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4" name="Google Shape;294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97" name="Google Shape;29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2" name="Google Shape;302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03" name="Google Shape;303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4" name="Google Shape;304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06" name="Google Shape;306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07" name="Google Shape;307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0" name="Google Shape;310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1" name="Google Shape;311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2" name="Google Shape;312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3" name="Google Shape;313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4" name="Google Shape;314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17" name="Google Shape;317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319" name="Google Shape;319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322" name="Google Shape;322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5" name="Google Shape;325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6" name="Google Shape;326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7" name="Google Shape;327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0" name="Google Shape;330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1" name="Google Shape;331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32" name="Google Shape;332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34" name="Google Shape;334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theme" Target="../theme/theme1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308925" y="278025"/>
            <a:ext cx="44484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b="1"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Inter"/>
              <a:buNone/>
              <a:defRPr sz="4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613175" y="278025"/>
            <a:ext cx="2965500" cy="29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●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○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"/>
              <a:buChar char="■"/>
              <a:defRPr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8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3"/>
          <p:cNvSpPr txBox="1"/>
          <p:nvPr>
            <p:ph type="title"/>
          </p:nvPr>
        </p:nvSpPr>
        <p:spPr>
          <a:xfrm>
            <a:off x="210450" y="839250"/>
            <a:ext cx="4644300" cy="17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Freelancer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</a:t>
            </a:r>
            <a:endParaRPr/>
          </a:p>
        </p:txBody>
      </p:sp>
      <p:sp>
        <p:nvSpPr>
          <p:cNvPr id="342" name="Google Shape;342;p43"/>
          <p:cNvSpPr txBox="1"/>
          <p:nvPr>
            <p:ph idx="2" type="title"/>
          </p:nvPr>
        </p:nvSpPr>
        <p:spPr>
          <a:xfrm>
            <a:off x="109050" y="2967450"/>
            <a:ext cx="4745700" cy="14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Presented by Olivier P Israel, Md Hasan, Aung Latt, Nathan Chen, and Dario Haxhia</a:t>
            </a:r>
            <a:endParaRPr sz="1700"/>
          </a:p>
        </p:txBody>
      </p:sp>
      <p:sp>
        <p:nvSpPr>
          <p:cNvPr id="343" name="Google Shape;343;p43"/>
          <p:cNvSpPr/>
          <p:nvPr/>
        </p:nvSpPr>
        <p:spPr>
          <a:xfrm>
            <a:off x="6252825" y="2366700"/>
            <a:ext cx="1479300" cy="410100"/>
          </a:xfrm>
          <a:prstGeom prst="roundRect">
            <a:avLst>
              <a:gd fmla="val 50000" name="adj"/>
            </a:avLst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1"/>
                </a:solidFill>
                <a:latin typeface="Inter ExtraBold"/>
                <a:ea typeface="Inter ExtraBold"/>
                <a:cs typeface="Inter ExtraBold"/>
                <a:sym typeface="Inter ExtraBold"/>
              </a:rPr>
              <a:t>LOGO HERE</a:t>
            </a:r>
            <a:endParaRPr>
              <a:solidFill>
                <a:schemeClr val="accent1"/>
              </a:solidFill>
              <a:latin typeface="Inter ExtraBold"/>
              <a:ea typeface="Inter ExtraBold"/>
              <a:cs typeface="Inter ExtraBold"/>
              <a:sym typeface="Inter ExtraBold"/>
            </a:endParaRPr>
          </a:p>
        </p:txBody>
      </p:sp>
      <p:pic>
        <p:nvPicPr>
          <p:cNvPr id="344" name="Google Shape;34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95925" y="0"/>
            <a:ext cx="46443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0" name="Google Shape;350;p44"/>
          <p:cNvSpPr txBox="1"/>
          <p:nvPr>
            <p:ph type="title"/>
          </p:nvPr>
        </p:nvSpPr>
        <p:spPr>
          <a:xfrm>
            <a:off x="0" y="0"/>
            <a:ext cx="4977900" cy="496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/>
              <a:t>                                                 </a:t>
            </a:r>
            <a:r>
              <a:rPr lang="en" sz="1400"/>
              <a:t>    What is it about ?</a:t>
            </a:r>
            <a:r>
              <a:rPr lang="en" sz="1900"/>
              <a:t>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/>
              <a:t>This freelance app is primarily designed for skilled tradespeople. </a:t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/>
              <a:t>Its purpose is to connect workers in the trades with large </a:t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/>
              <a:t>companies, independent contractors, and individuals who need </a:t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/>
              <a:t>quick repairs or professional services. The app also helps verify </a:t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/>
              <a:t>that each tradesperson is qualified, professional, and properly </a:t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/>
              <a:t>licensed.</a:t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200"/>
              <a:t>In addition, less-experienced workers, such as recent trade </a:t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200"/>
              <a:t>school graduates or those who have completed a certain period of </a:t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200"/>
              <a:t>apprenticeship, may also use the app. However, they will be </a:t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200"/>
              <a:t>limited in the number of jobs they can accept until they gain </a:t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200"/>
              <a:t>sufficient experience on the platform. They must also be endorsed </a:t>
            </a:r>
            <a:endParaRPr b="0" sz="1200"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0" lang="en" sz="1200"/>
              <a:t>by an experienced professional already registered on the app.</a:t>
            </a:r>
            <a:endParaRPr b="0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pic>
        <p:nvPicPr>
          <p:cNvPr descr="Two people standing and looking at a tablet computer together." id="351" name="Google Shape;351;p44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0" l="35430" r="16595" t="0"/>
          <a:stretch/>
        </p:blipFill>
        <p:spPr>
          <a:xfrm>
            <a:off x="5039775" y="196800"/>
            <a:ext cx="3905400" cy="4749900"/>
          </a:xfrm>
          <a:prstGeom prst="roundRect">
            <a:avLst>
              <a:gd fmla="val 16667" name="adj"/>
            </a:avLst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5"/>
          <p:cNvSpPr txBox="1"/>
          <p:nvPr>
            <p:ph idx="1" type="subTitle"/>
          </p:nvPr>
        </p:nvSpPr>
        <p:spPr>
          <a:xfrm>
            <a:off x="3486575" y="2706950"/>
            <a:ext cx="1466400" cy="2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Who needs it?</a:t>
            </a:r>
            <a:endParaRPr/>
          </a:p>
        </p:txBody>
      </p:sp>
      <p:sp>
        <p:nvSpPr>
          <p:cNvPr id="357" name="Google Shape;357;p45"/>
          <p:cNvSpPr txBox="1"/>
          <p:nvPr>
            <p:ph idx="2" type="body"/>
          </p:nvPr>
        </p:nvSpPr>
        <p:spPr>
          <a:xfrm>
            <a:off x="3416075" y="2982325"/>
            <a:ext cx="1607400" cy="10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>Anyone or entities who are in a need of trade-skilled </a:t>
            </a:r>
            <a:r>
              <a:rPr lang="en"/>
              <a:t>personnel</a:t>
            </a:r>
            <a:r>
              <a:rPr lang="en"/>
              <a:t>.</a:t>
            </a:r>
            <a:endParaRPr/>
          </a:p>
        </p:txBody>
      </p:sp>
      <p:sp>
        <p:nvSpPr>
          <p:cNvPr id="358" name="Google Shape;358;p45"/>
          <p:cNvSpPr txBox="1"/>
          <p:nvPr>
            <p:ph idx="3" type="subTitle"/>
          </p:nvPr>
        </p:nvSpPr>
        <p:spPr>
          <a:xfrm>
            <a:off x="5358925" y="2706950"/>
            <a:ext cx="1466400" cy="2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REGION</a:t>
            </a:r>
            <a:endParaRPr/>
          </a:p>
        </p:txBody>
      </p:sp>
      <p:sp>
        <p:nvSpPr>
          <p:cNvPr id="359" name="Google Shape;359;p45"/>
          <p:cNvSpPr txBox="1"/>
          <p:nvPr>
            <p:ph idx="4" type="body"/>
          </p:nvPr>
        </p:nvSpPr>
        <p:spPr>
          <a:xfrm>
            <a:off x="5288425" y="2982325"/>
            <a:ext cx="1607400" cy="10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Start in the biggest cities (NYC, M</a:t>
            </a:r>
            <a:r>
              <a:rPr lang="en"/>
              <a:t>iami,</a:t>
            </a:r>
            <a:r>
              <a:rPr lang="en"/>
              <a:t> Dallas, etc..)</a:t>
            </a:r>
            <a:endParaRPr/>
          </a:p>
        </p:txBody>
      </p:sp>
      <p:sp>
        <p:nvSpPr>
          <p:cNvPr id="360" name="Google Shape;360;p45"/>
          <p:cNvSpPr txBox="1"/>
          <p:nvPr>
            <p:ph idx="5" type="subTitle"/>
          </p:nvPr>
        </p:nvSpPr>
        <p:spPr>
          <a:xfrm>
            <a:off x="7231275" y="2706950"/>
            <a:ext cx="1466400" cy="27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INVESTOR </a:t>
            </a:r>
            <a:endParaRPr/>
          </a:p>
        </p:txBody>
      </p:sp>
      <p:sp>
        <p:nvSpPr>
          <p:cNvPr id="361" name="Google Shape;361;p45"/>
          <p:cNvSpPr txBox="1"/>
          <p:nvPr>
            <p:ph idx="6" type="body"/>
          </p:nvPr>
        </p:nvSpPr>
        <p:spPr>
          <a:xfrm>
            <a:off x="7160775" y="2982325"/>
            <a:ext cx="1607400" cy="108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Market needs for skilled-based hiring is at its highest peak.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5"/>
          <p:cNvSpPr/>
          <p:nvPr/>
        </p:nvSpPr>
        <p:spPr>
          <a:xfrm>
            <a:off x="7782763" y="1869913"/>
            <a:ext cx="357121" cy="357121"/>
          </a:xfrm>
          <a:custGeom>
            <a:rect b="b" l="l" r="r" t="t"/>
            <a:pathLst>
              <a:path extrusionOk="0" h="108630" w="108630">
                <a:moveTo>
                  <a:pt x="7709" y="0"/>
                </a:moveTo>
                <a:lnTo>
                  <a:pt x="7709" y="12615"/>
                </a:lnTo>
                <a:lnTo>
                  <a:pt x="86203" y="12615"/>
                </a:lnTo>
                <a:lnTo>
                  <a:pt x="0" y="99519"/>
                </a:lnTo>
                <a:lnTo>
                  <a:pt x="9111" y="108630"/>
                </a:lnTo>
                <a:lnTo>
                  <a:pt x="95314" y="22427"/>
                </a:lnTo>
                <a:lnTo>
                  <a:pt x="95314" y="100220"/>
                </a:lnTo>
                <a:lnTo>
                  <a:pt x="108630" y="100220"/>
                </a:lnTo>
                <a:lnTo>
                  <a:pt x="10863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5"/>
          <p:cNvSpPr/>
          <p:nvPr/>
        </p:nvSpPr>
        <p:spPr>
          <a:xfrm>
            <a:off x="603475" y="1753866"/>
            <a:ext cx="2313300" cy="589200"/>
          </a:xfrm>
          <a:prstGeom prst="roundRect">
            <a:avLst>
              <a:gd fmla="val 50000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 PATHS</a:t>
            </a:r>
            <a:endParaRPr sz="3000">
              <a:solidFill>
                <a:schemeClr val="dk2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cxnSp>
        <p:nvCxnSpPr>
          <p:cNvPr id="364" name="Google Shape;364;p45"/>
          <p:cNvCxnSpPr/>
          <p:nvPr/>
        </p:nvCxnSpPr>
        <p:spPr>
          <a:xfrm>
            <a:off x="5182025" y="2827800"/>
            <a:ext cx="0" cy="1232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5"/>
          <p:cNvCxnSpPr/>
          <p:nvPr/>
        </p:nvCxnSpPr>
        <p:spPr>
          <a:xfrm>
            <a:off x="7021675" y="2827800"/>
            <a:ext cx="0" cy="12324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6" name="Google Shape;366;p45"/>
          <p:cNvSpPr/>
          <p:nvPr/>
        </p:nvSpPr>
        <p:spPr>
          <a:xfrm>
            <a:off x="3744125" y="1648463"/>
            <a:ext cx="951300" cy="8736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5"/>
          <p:cNvSpPr/>
          <p:nvPr/>
        </p:nvSpPr>
        <p:spPr>
          <a:xfrm>
            <a:off x="5697750" y="1695700"/>
            <a:ext cx="763200" cy="6387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6"/>
          <p:cNvSpPr txBox="1"/>
          <p:nvPr>
            <p:ph type="title"/>
          </p:nvPr>
        </p:nvSpPr>
        <p:spPr>
          <a:xfrm>
            <a:off x="53300" y="279725"/>
            <a:ext cx="3398700" cy="11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</a:t>
            </a:r>
            <a:r>
              <a:rPr lang="en" sz="3400"/>
              <a:t>ow will we make money?</a:t>
            </a:r>
            <a:endParaRPr sz="3300"/>
          </a:p>
        </p:txBody>
      </p:sp>
      <p:sp>
        <p:nvSpPr>
          <p:cNvPr id="373" name="Google Shape;373;p46"/>
          <p:cNvSpPr txBox="1"/>
          <p:nvPr>
            <p:ph idx="1" type="body"/>
          </p:nvPr>
        </p:nvSpPr>
        <p:spPr>
          <a:xfrm>
            <a:off x="239300" y="1471575"/>
            <a:ext cx="3212700" cy="2080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Commission-based fees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Advertisements from local skilled trade companies or trade schools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Late cancellation fees</a:t>
            </a:r>
            <a:endParaRPr b="1"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46"/>
          <p:cNvSpPr txBox="1"/>
          <p:nvPr/>
        </p:nvSpPr>
        <p:spPr>
          <a:xfrm>
            <a:off x="4089825" y="1102175"/>
            <a:ext cx="6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$600k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5" name="Google Shape;375;p46"/>
          <p:cNvSpPr txBox="1"/>
          <p:nvPr/>
        </p:nvSpPr>
        <p:spPr>
          <a:xfrm>
            <a:off x="4924101" y="3794680"/>
            <a:ext cx="72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Q1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6" name="Google Shape;376;p46"/>
          <p:cNvSpPr txBox="1"/>
          <p:nvPr/>
        </p:nvSpPr>
        <p:spPr>
          <a:xfrm>
            <a:off x="5847477" y="3794680"/>
            <a:ext cx="72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Q2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7" name="Google Shape;377;p46"/>
          <p:cNvSpPr txBox="1"/>
          <p:nvPr/>
        </p:nvSpPr>
        <p:spPr>
          <a:xfrm>
            <a:off x="6770852" y="3794680"/>
            <a:ext cx="72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Q3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8" name="Google Shape;378;p46"/>
          <p:cNvSpPr txBox="1"/>
          <p:nvPr/>
        </p:nvSpPr>
        <p:spPr>
          <a:xfrm>
            <a:off x="7694228" y="3794680"/>
            <a:ext cx="725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Q4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9" name="Google Shape;379;p46"/>
          <p:cNvSpPr txBox="1"/>
          <p:nvPr/>
        </p:nvSpPr>
        <p:spPr>
          <a:xfrm>
            <a:off x="4089825" y="1748017"/>
            <a:ext cx="6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$500k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0" name="Google Shape;380;p46"/>
          <p:cNvSpPr txBox="1"/>
          <p:nvPr/>
        </p:nvSpPr>
        <p:spPr>
          <a:xfrm>
            <a:off x="4089825" y="2340950"/>
            <a:ext cx="6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$200K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1" name="Google Shape;381;p46"/>
          <p:cNvSpPr txBox="1"/>
          <p:nvPr/>
        </p:nvSpPr>
        <p:spPr>
          <a:xfrm>
            <a:off x="4089825" y="2933883"/>
            <a:ext cx="6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$150K 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2" name="Google Shape;382;p46"/>
          <p:cNvSpPr txBox="1"/>
          <p:nvPr/>
        </p:nvSpPr>
        <p:spPr>
          <a:xfrm>
            <a:off x="4089825" y="3526816"/>
            <a:ext cx="6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2"/>
                </a:solidFill>
                <a:latin typeface="Inter"/>
                <a:ea typeface="Inter"/>
                <a:cs typeface="Inter"/>
                <a:sym typeface="Inter"/>
              </a:rPr>
              <a:t>$200k</a:t>
            </a:r>
            <a:endParaRPr sz="1200"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3" name="Google Shape;383;p46"/>
          <p:cNvSpPr txBox="1"/>
          <p:nvPr>
            <p:ph idx="12" type="sldNum"/>
          </p:nvPr>
        </p:nvSpPr>
        <p:spPr>
          <a:xfrm>
            <a:off x="420872" y="203200"/>
            <a:ext cx="42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84" name="Google Shape;384;p46"/>
          <p:cNvCxnSpPr/>
          <p:nvPr/>
        </p:nvCxnSpPr>
        <p:spPr>
          <a:xfrm>
            <a:off x="4852300" y="1296230"/>
            <a:ext cx="379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46"/>
          <p:cNvCxnSpPr/>
          <p:nvPr/>
        </p:nvCxnSpPr>
        <p:spPr>
          <a:xfrm>
            <a:off x="4849520" y="1901750"/>
            <a:ext cx="379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46"/>
          <p:cNvCxnSpPr/>
          <p:nvPr/>
        </p:nvCxnSpPr>
        <p:spPr>
          <a:xfrm>
            <a:off x="4849520" y="2511664"/>
            <a:ext cx="379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46"/>
          <p:cNvCxnSpPr/>
          <p:nvPr/>
        </p:nvCxnSpPr>
        <p:spPr>
          <a:xfrm>
            <a:off x="4849520" y="3116556"/>
            <a:ext cx="379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88" name="Google Shape;388;p46"/>
          <p:cNvSpPr/>
          <p:nvPr/>
        </p:nvSpPr>
        <p:spPr>
          <a:xfrm>
            <a:off x="5152300" y="3116550"/>
            <a:ext cx="563700" cy="612000"/>
          </a:xfrm>
          <a:prstGeom prst="roundRect">
            <a:avLst>
              <a:gd fmla="val 2348" name="adj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89" name="Google Shape;389;p46"/>
          <p:cNvSpPr/>
          <p:nvPr/>
        </p:nvSpPr>
        <p:spPr>
          <a:xfrm>
            <a:off x="6078875" y="1901748"/>
            <a:ext cx="563700" cy="1826700"/>
          </a:xfrm>
          <a:prstGeom prst="roundRect">
            <a:avLst>
              <a:gd fmla="val 2348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0" name="Google Shape;390;p46"/>
          <p:cNvSpPr/>
          <p:nvPr/>
        </p:nvSpPr>
        <p:spPr>
          <a:xfrm>
            <a:off x="6903525" y="1901750"/>
            <a:ext cx="563700" cy="1826700"/>
          </a:xfrm>
          <a:prstGeom prst="roundRect">
            <a:avLst>
              <a:gd fmla="val 2348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91" name="Google Shape;391;p46"/>
          <p:cNvSpPr/>
          <p:nvPr/>
        </p:nvSpPr>
        <p:spPr>
          <a:xfrm>
            <a:off x="7770325" y="1420550"/>
            <a:ext cx="563700" cy="2307900"/>
          </a:xfrm>
          <a:prstGeom prst="roundRect">
            <a:avLst>
              <a:gd fmla="val 2348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92" name="Google Shape;392;p46"/>
          <p:cNvCxnSpPr/>
          <p:nvPr/>
        </p:nvCxnSpPr>
        <p:spPr>
          <a:xfrm>
            <a:off x="4849520" y="3724345"/>
            <a:ext cx="3793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C3EAA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7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7"/>
          <p:cNvSpPr/>
          <p:nvPr/>
        </p:nvSpPr>
        <p:spPr>
          <a:xfrm>
            <a:off x="457200" y="6583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Four simple steps to get started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7"/>
          <p:cNvSpPr/>
          <p:nvPr/>
        </p:nvSpPr>
        <p:spPr>
          <a:xfrm>
            <a:off x="320040" y="1115568"/>
            <a:ext cx="1005840" cy="822960"/>
          </a:xfrm>
          <a:prstGeom prst="roundRect">
            <a:avLst>
              <a:gd fmla="val 13333" name="adj"/>
            </a:avLst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7"/>
          <p:cNvSpPr/>
          <p:nvPr/>
        </p:nvSpPr>
        <p:spPr>
          <a:xfrm>
            <a:off x="320040" y="1188720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7"/>
          <p:cNvSpPr/>
          <p:nvPr/>
        </p:nvSpPr>
        <p:spPr>
          <a:xfrm>
            <a:off x="320040" y="1389888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EA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1C3EA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7"/>
          <p:cNvSpPr/>
          <p:nvPr/>
        </p:nvSpPr>
        <p:spPr>
          <a:xfrm>
            <a:off x="1463040" y="1115568"/>
            <a:ext cx="5852160" cy="822960"/>
          </a:xfrm>
          <a:prstGeom prst="roundRect">
            <a:avLst>
              <a:gd fmla="val 50000" name="adj"/>
            </a:avLst>
          </a:prstGeom>
          <a:solidFill>
            <a:srgbClr val="DCE8FB"/>
          </a:solidFill>
          <a:ln cap="flat" cmpd="sng" w="12700">
            <a:solidFill>
              <a:srgbClr val="DCE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7"/>
          <p:cNvSpPr/>
          <p:nvPr/>
        </p:nvSpPr>
        <p:spPr>
          <a:xfrm>
            <a:off x="1737360" y="1207008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Define your role &amp; set up your profile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7"/>
          <p:cNvSpPr/>
          <p:nvPr/>
        </p:nvSpPr>
        <p:spPr>
          <a:xfrm>
            <a:off x="1737360" y="1536192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Choose employer or tradesperson, fill in your basic info, region, and trade speciality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7"/>
          <p:cNvSpPr/>
          <p:nvPr/>
        </p:nvSpPr>
        <p:spPr>
          <a:xfrm>
            <a:off x="7543800" y="1161288"/>
            <a:ext cx="749808" cy="749808"/>
          </a:xfrm>
          <a:prstGeom prst="ellipse">
            <a:avLst/>
          </a:prstGeom>
          <a:solidFill>
            <a:srgbClr val="DCE8FB"/>
          </a:solidFill>
          <a:ln cap="flat" cmpd="sng" w="9525">
            <a:solidFill>
              <a:srgbClr val="B5D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47"/>
          <p:cNvSpPr/>
          <p:nvPr/>
        </p:nvSpPr>
        <p:spPr>
          <a:xfrm>
            <a:off x="7543800" y="1161288"/>
            <a:ext cx="7498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👤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7"/>
          <p:cNvSpPr/>
          <p:nvPr/>
        </p:nvSpPr>
        <p:spPr>
          <a:xfrm>
            <a:off x="320040" y="2103120"/>
            <a:ext cx="1005840" cy="822960"/>
          </a:xfrm>
          <a:prstGeom prst="roundRect">
            <a:avLst>
              <a:gd fmla="val 13333" name="adj"/>
            </a:avLst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47"/>
          <p:cNvSpPr/>
          <p:nvPr/>
        </p:nvSpPr>
        <p:spPr>
          <a:xfrm>
            <a:off x="320040" y="2176272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7"/>
          <p:cNvSpPr/>
          <p:nvPr/>
        </p:nvSpPr>
        <p:spPr>
          <a:xfrm>
            <a:off x="320040" y="2377440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EA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1C3EA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7"/>
          <p:cNvSpPr/>
          <p:nvPr/>
        </p:nvSpPr>
        <p:spPr>
          <a:xfrm>
            <a:off x="1463040" y="2103120"/>
            <a:ext cx="5852160" cy="822960"/>
          </a:xfrm>
          <a:prstGeom prst="roundRect">
            <a:avLst>
              <a:gd fmla="val 50000" name="adj"/>
            </a:avLst>
          </a:prstGeom>
          <a:solidFill>
            <a:srgbClr val="DCE8FB"/>
          </a:solidFill>
          <a:ln cap="flat" cmpd="sng" w="12700">
            <a:solidFill>
              <a:srgbClr val="DCE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47"/>
          <p:cNvSpPr/>
          <p:nvPr/>
        </p:nvSpPr>
        <p:spPr>
          <a:xfrm>
            <a:off x="1737360" y="21945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Upload your documents &amp; get verified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7"/>
          <p:cNvSpPr/>
          <p:nvPr/>
        </p:nvSpPr>
        <p:spPr>
          <a:xfrm>
            <a:off x="1737360" y="2523744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Submit your licence, certifications, and ID — juniors also need a senior endorsement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7"/>
          <p:cNvSpPr/>
          <p:nvPr/>
        </p:nvSpPr>
        <p:spPr>
          <a:xfrm>
            <a:off x="7543800" y="2148840"/>
            <a:ext cx="749808" cy="749808"/>
          </a:xfrm>
          <a:prstGeom prst="ellipse">
            <a:avLst/>
          </a:prstGeom>
          <a:solidFill>
            <a:srgbClr val="DCE8FB"/>
          </a:solidFill>
          <a:ln cap="flat" cmpd="sng" w="9525">
            <a:solidFill>
              <a:srgbClr val="B5D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47"/>
          <p:cNvSpPr/>
          <p:nvPr/>
        </p:nvSpPr>
        <p:spPr>
          <a:xfrm>
            <a:off x="7543800" y="2148840"/>
            <a:ext cx="7498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📋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7"/>
          <p:cNvSpPr/>
          <p:nvPr/>
        </p:nvSpPr>
        <p:spPr>
          <a:xfrm>
            <a:off x="320040" y="3090672"/>
            <a:ext cx="1005840" cy="822960"/>
          </a:xfrm>
          <a:prstGeom prst="roundRect">
            <a:avLst>
              <a:gd fmla="val 13333" name="adj"/>
            </a:avLst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7"/>
          <p:cNvSpPr/>
          <p:nvPr/>
        </p:nvSpPr>
        <p:spPr>
          <a:xfrm>
            <a:off x="320040" y="3163824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7"/>
          <p:cNvSpPr/>
          <p:nvPr/>
        </p:nvSpPr>
        <p:spPr>
          <a:xfrm>
            <a:off x="320040" y="3364992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EA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1C3EA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7"/>
          <p:cNvSpPr/>
          <p:nvPr/>
        </p:nvSpPr>
        <p:spPr>
          <a:xfrm>
            <a:off x="1463040" y="3090672"/>
            <a:ext cx="5852160" cy="822960"/>
          </a:xfrm>
          <a:prstGeom prst="roundRect">
            <a:avLst>
              <a:gd fmla="val 50000" name="adj"/>
            </a:avLst>
          </a:prstGeom>
          <a:solidFill>
            <a:srgbClr val="DCE8FB"/>
          </a:solidFill>
          <a:ln cap="flat" cmpd="sng" w="12700">
            <a:solidFill>
              <a:srgbClr val="DCE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7"/>
          <p:cNvSpPr/>
          <p:nvPr/>
        </p:nvSpPr>
        <p:spPr>
          <a:xfrm>
            <a:off x="1737360" y="3182112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Post a job or browse available jobs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7"/>
          <p:cNvSpPr/>
          <p:nvPr/>
        </p:nvSpPr>
        <p:spPr>
          <a:xfrm>
            <a:off x="1737360" y="3511296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Employers describe the work needed — tradespeople browse local listings filtered by trade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7"/>
          <p:cNvSpPr/>
          <p:nvPr/>
        </p:nvSpPr>
        <p:spPr>
          <a:xfrm>
            <a:off x="7543800" y="3136392"/>
            <a:ext cx="749808" cy="749808"/>
          </a:xfrm>
          <a:prstGeom prst="ellipse">
            <a:avLst/>
          </a:prstGeom>
          <a:solidFill>
            <a:srgbClr val="DCE8FB"/>
          </a:solidFill>
          <a:ln cap="flat" cmpd="sng" w="9525">
            <a:solidFill>
              <a:srgbClr val="B5D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7"/>
          <p:cNvSpPr/>
          <p:nvPr/>
        </p:nvSpPr>
        <p:spPr>
          <a:xfrm>
            <a:off x="7543800" y="3136392"/>
            <a:ext cx="7498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7"/>
          <p:cNvSpPr/>
          <p:nvPr/>
        </p:nvSpPr>
        <p:spPr>
          <a:xfrm>
            <a:off x="320040" y="4078224"/>
            <a:ext cx="1005840" cy="822960"/>
          </a:xfrm>
          <a:prstGeom prst="roundRect">
            <a:avLst>
              <a:gd fmla="val 13333" name="adj"/>
            </a:avLst>
          </a:prstGeom>
          <a:solidFill>
            <a:srgbClr val="2B2B2B"/>
          </a:solidFill>
          <a:ln cap="flat" cmpd="sng" w="12700">
            <a:solidFill>
              <a:srgbClr val="2B2B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7"/>
          <p:cNvSpPr/>
          <p:nvPr/>
        </p:nvSpPr>
        <p:spPr>
          <a:xfrm>
            <a:off x="320040" y="4151376"/>
            <a:ext cx="10058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78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8780"/>
                </a:solidFill>
                <a:latin typeface="Calibri"/>
                <a:ea typeface="Calibri"/>
                <a:cs typeface="Calibri"/>
                <a:sym typeface="Calibri"/>
              </a:rPr>
              <a:t>STEP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7"/>
          <p:cNvSpPr/>
          <p:nvPr/>
        </p:nvSpPr>
        <p:spPr>
          <a:xfrm>
            <a:off x="320040" y="4352544"/>
            <a:ext cx="10058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C3EAA"/>
              </a:buClr>
              <a:buSzPts val="2600"/>
              <a:buFont typeface="Calibri"/>
              <a:buNone/>
            </a:pPr>
            <a:r>
              <a:rPr b="1" i="0" lang="en" sz="2600" u="none" cap="none" strike="noStrike">
                <a:solidFill>
                  <a:srgbClr val="1C3EAA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7"/>
          <p:cNvSpPr/>
          <p:nvPr/>
        </p:nvSpPr>
        <p:spPr>
          <a:xfrm>
            <a:off x="1463040" y="4078224"/>
            <a:ext cx="5852160" cy="822960"/>
          </a:xfrm>
          <a:prstGeom prst="roundRect">
            <a:avLst>
              <a:gd fmla="val 50000" name="adj"/>
            </a:avLst>
          </a:prstGeom>
          <a:solidFill>
            <a:srgbClr val="DCE8FB"/>
          </a:solidFill>
          <a:ln cap="flat" cmpd="sng" w="12700">
            <a:solidFill>
              <a:srgbClr val="DCE8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47"/>
          <p:cNvSpPr/>
          <p:nvPr/>
        </p:nvSpPr>
        <p:spPr>
          <a:xfrm>
            <a:off x="1737360" y="4169664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C447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0C447C"/>
                </a:solidFill>
                <a:latin typeface="Calibri"/>
                <a:ea typeface="Calibri"/>
                <a:cs typeface="Calibri"/>
                <a:sym typeface="Calibri"/>
              </a:rPr>
              <a:t>Connect, complete &amp; rate the experience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47"/>
          <p:cNvSpPr/>
          <p:nvPr/>
        </p:nvSpPr>
        <p:spPr>
          <a:xfrm>
            <a:off x="1737360" y="4498848"/>
            <a:ext cx="5486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85FA5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185FA5"/>
                </a:solidFill>
                <a:latin typeface="Calibri"/>
                <a:ea typeface="Calibri"/>
                <a:cs typeface="Calibri"/>
                <a:sym typeface="Calibri"/>
              </a:rPr>
              <a:t>Chat in-app, confirm the job, get it done, and leave a rating to build your reputation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7"/>
          <p:cNvSpPr/>
          <p:nvPr/>
        </p:nvSpPr>
        <p:spPr>
          <a:xfrm>
            <a:off x="7543800" y="4123944"/>
            <a:ext cx="749808" cy="749808"/>
          </a:xfrm>
          <a:prstGeom prst="ellipse">
            <a:avLst/>
          </a:prstGeom>
          <a:solidFill>
            <a:srgbClr val="DCE8FB"/>
          </a:solidFill>
          <a:ln cap="flat" cmpd="sng" w="9525">
            <a:solidFill>
              <a:srgbClr val="B5D4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7"/>
          <p:cNvSpPr/>
          <p:nvPr/>
        </p:nvSpPr>
        <p:spPr>
          <a:xfrm>
            <a:off x="7543800" y="4123944"/>
            <a:ext cx="749808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⭐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7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D1F6E"/>
          </a:solidFill>
          <a:ln cap="flat" cmpd="sng" w="12700">
            <a:solidFill>
              <a:srgbClr val="0D1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7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DB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DB5"/>
                </a:solidFill>
                <a:latin typeface="Calibri"/>
                <a:ea typeface="Calibri"/>
                <a:cs typeface="Calibri"/>
                <a:sym typeface="Calibri"/>
              </a:rPr>
              <a:t>TradeConnect  ·  Skilled trades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F6E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8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i="0" lang="en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journey at a glance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8"/>
          <p:cNvSpPr/>
          <p:nvPr/>
        </p:nvSpPr>
        <p:spPr>
          <a:xfrm>
            <a:off x="457200" y="62179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Three personas — one seamless platform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48"/>
          <p:cNvSpPr/>
          <p:nvPr/>
        </p:nvSpPr>
        <p:spPr>
          <a:xfrm>
            <a:off x="274320" y="1005840"/>
            <a:ext cx="2788920" cy="3657600"/>
          </a:xfrm>
          <a:prstGeom prst="rect">
            <a:avLst/>
          </a:prstGeom>
          <a:solidFill>
            <a:srgbClr val="142E8A"/>
          </a:solidFill>
          <a:ln cap="flat" cmpd="sng" w="9525">
            <a:solidFill>
              <a:srgbClr val="2A4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8"/>
          <p:cNvSpPr/>
          <p:nvPr/>
        </p:nvSpPr>
        <p:spPr>
          <a:xfrm>
            <a:off x="274320" y="1005840"/>
            <a:ext cx="2788920" cy="502920"/>
          </a:xfrm>
          <a:prstGeom prst="rect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8"/>
          <p:cNvSpPr/>
          <p:nvPr/>
        </p:nvSpPr>
        <p:spPr>
          <a:xfrm>
            <a:off x="384048" y="1097280"/>
            <a:ext cx="347472" cy="347472"/>
          </a:xfrm>
          <a:prstGeom prst="ellipse">
            <a:avLst/>
          </a:prstGeom>
          <a:solidFill>
            <a:srgbClr val="E6F1FB"/>
          </a:solidFill>
          <a:ln cap="flat" cmpd="sng" w="12700">
            <a:solidFill>
              <a:srgbClr val="E6F1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8"/>
          <p:cNvSpPr/>
          <p:nvPr/>
        </p:nvSpPr>
        <p:spPr>
          <a:xfrm>
            <a:off x="384048" y="10972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🏢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48"/>
          <p:cNvSpPr/>
          <p:nvPr/>
        </p:nvSpPr>
        <p:spPr>
          <a:xfrm>
            <a:off x="804672" y="107899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Employer / Contractor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8"/>
          <p:cNvSpPr/>
          <p:nvPr/>
        </p:nvSpPr>
        <p:spPr>
          <a:xfrm>
            <a:off x="438912" y="1664208"/>
            <a:ext cx="219456" cy="219456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8"/>
          <p:cNvSpPr/>
          <p:nvPr/>
        </p:nvSpPr>
        <p:spPr>
          <a:xfrm>
            <a:off x="438912" y="166420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8"/>
          <p:cNvSpPr/>
          <p:nvPr/>
        </p:nvSpPr>
        <p:spPr>
          <a:xfrm>
            <a:off x="731520" y="1627632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Open app &amp; select role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8"/>
          <p:cNvSpPr/>
          <p:nvPr/>
        </p:nvSpPr>
        <p:spPr>
          <a:xfrm>
            <a:off x="438912" y="2103120"/>
            <a:ext cx="219456" cy="219456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8"/>
          <p:cNvSpPr/>
          <p:nvPr/>
        </p:nvSpPr>
        <p:spPr>
          <a:xfrm>
            <a:off x="438912" y="210312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48"/>
          <p:cNvSpPr/>
          <p:nvPr/>
        </p:nvSpPr>
        <p:spPr>
          <a:xfrm>
            <a:off x="731520" y="2066544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Verify identity / business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8"/>
          <p:cNvSpPr/>
          <p:nvPr/>
        </p:nvSpPr>
        <p:spPr>
          <a:xfrm>
            <a:off x="438912" y="2542032"/>
            <a:ext cx="219456" cy="219456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48"/>
          <p:cNvSpPr/>
          <p:nvPr/>
        </p:nvSpPr>
        <p:spPr>
          <a:xfrm>
            <a:off x="438912" y="254203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8"/>
          <p:cNvSpPr/>
          <p:nvPr/>
        </p:nvSpPr>
        <p:spPr>
          <a:xfrm>
            <a:off x="731520" y="2505456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Describe job &amp; trade needed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48"/>
          <p:cNvSpPr/>
          <p:nvPr/>
        </p:nvSpPr>
        <p:spPr>
          <a:xfrm>
            <a:off x="438912" y="2980944"/>
            <a:ext cx="219456" cy="219456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8"/>
          <p:cNvSpPr/>
          <p:nvPr/>
        </p:nvSpPr>
        <p:spPr>
          <a:xfrm>
            <a:off x="438912" y="298094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48"/>
          <p:cNvSpPr/>
          <p:nvPr/>
        </p:nvSpPr>
        <p:spPr>
          <a:xfrm>
            <a:off x="731520" y="2944368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Browse ranked matches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8"/>
          <p:cNvSpPr/>
          <p:nvPr/>
        </p:nvSpPr>
        <p:spPr>
          <a:xfrm>
            <a:off x="438912" y="3419856"/>
            <a:ext cx="219456" cy="219456"/>
          </a:xfrm>
          <a:prstGeom prst="ellipse">
            <a:avLst/>
          </a:prstGeom>
          <a:solidFill>
            <a:srgbClr val="185FA5"/>
          </a:solidFill>
          <a:ln cap="flat" cmpd="sng" w="12700">
            <a:solidFill>
              <a:srgbClr val="185FA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8"/>
          <p:cNvSpPr/>
          <p:nvPr/>
        </p:nvSpPr>
        <p:spPr>
          <a:xfrm>
            <a:off x="438912" y="341985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48"/>
          <p:cNvSpPr/>
          <p:nvPr/>
        </p:nvSpPr>
        <p:spPr>
          <a:xfrm>
            <a:off x="731520" y="3383280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Hire, pay &amp; rate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48"/>
          <p:cNvSpPr/>
          <p:nvPr/>
        </p:nvSpPr>
        <p:spPr>
          <a:xfrm>
            <a:off x="3246120" y="1005840"/>
            <a:ext cx="2788920" cy="3657600"/>
          </a:xfrm>
          <a:prstGeom prst="rect">
            <a:avLst/>
          </a:prstGeom>
          <a:solidFill>
            <a:srgbClr val="142E8A"/>
          </a:solidFill>
          <a:ln cap="flat" cmpd="sng" w="9525">
            <a:solidFill>
              <a:srgbClr val="2A4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8"/>
          <p:cNvSpPr/>
          <p:nvPr/>
        </p:nvSpPr>
        <p:spPr>
          <a:xfrm>
            <a:off x="3246120" y="1005840"/>
            <a:ext cx="2788920" cy="502920"/>
          </a:xfrm>
          <a:prstGeom prst="rect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8"/>
          <p:cNvSpPr/>
          <p:nvPr/>
        </p:nvSpPr>
        <p:spPr>
          <a:xfrm>
            <a:off x="3355848" y="1097280"/>
            <a:ext cx="347472" cy="347472"/>
          </a:xfrm>
          <a:prstGeom prst="ellipse">
            <a:avLst/>
          </a:prstGeom>
          <a:solidFill>
            <a:srgbClr val="E1F5EE"/>
          </a:solidFill>
          <a:ln cap="flat" cmpd="sng" w="12700">
            <a:solidFill>
              <a:srgbClr val="E1F5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8"/>
          <p:cNvSpPr/>
          <p:nvPr/>
        </p:nvSpPr>
        <p:spPr>
          <a:xfrm>
            <a:off x="3355848" y="10972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🔧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8"/>
          <p:cNvSpPr/>
          <p:nvPr/>
        </p:nvSpPr>
        <p:spPr>
          <a:xfrm>
            <a:off x="3776472" y="107899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Skilled Tradesperson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8"/>
          <p:cNvSpPr/>
          <p:nvPr/>
        </p:nvSpPr>
        <p:spPr>
          <a:xfrm>
            <a:off x="3410712" y="1664208"/>
            <a:ext cx="219456" cy="219456"/>
          </a:xfrm>
          <a:prstGeom prst="ellipse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8"/>
          <p:cNvSpPr/>
          <p:nvPr/>
        </p:nvSpPr>
        <p:spPr>
          <a:xfrm>
            <a:off x="3410712" y="166420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8"/>
          <p:cNvSpPr/>
          <p:nvPr/>
        </p:nvSpPr>
        <p:spPr>
          <a:xfrm>
            <a:off x="3703320" y="1627632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Open app &amp; select role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8"/>
          <p:cNvSpPr/>
          <p:nvPr/>
        </p:nvSpPr>
        <p:spPr>
          <a:xfrm>
            <a:off x="3410712" y="2103120"/>
            <a:ext cx="219456" cy="219456"/>
          </a:xfrm>
          <a:prstGeom prst="ellipse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48"/>
          <p:cNvSpPr/>
          <p:nvPr/>
        </p:nvSpPr>
        <p:spPr>
          <a:xfrm>
            <a:off x="3410712" y="210312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8"/>
          <p:cNvSpPr/>
          <p:nvPr/>
        </p:nvSpPr>
        <p:spPr>
          <a:xfrm>
            <a:off x="3703320" y="2066544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Upload licence &amp; certs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8"/>
          <p:cNvSpPr/>
          <p:nvPr/>
        </p:nvSpPr>
        <p:spPr>
          <a:xfrm>
            <a:off x="3410712" y="2542032"/>
            <a:ext cx="219456" cy="219456"/>
          </a:xfrm>
          <a:prstGeom prst="ellipse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48"/>
          <p:cNvSpPr/>
          <p:nvPr/>
        </p:nvSpPr>
        <p:spPr>
          <a:xfrm>
            <a:off x="3410712" y="254203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8"/>
          <p:cNvSpPr/>
          <p:nvPr/>
        </p:nvSpPr>
        <p:spPr>
          <a:xfrm>
            <a:off x="3703320" y="2505456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Set region &amp; availability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8"/>
          <p:cNvSpPr/>
          <p:nvPr/>
        </p:nvSpPr>
        <p:spPr>
          <a:xfrm>
            <a:off x="3410712" y="2980944"/>
            <a:ext cx="219456" cy="219456"/>
          </a:xfrm>
          <a:prstGeom prst="ellipse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8"/>
          <p:cNvSpPr/>
          <p:nvPr/>
        </p:nvSpPr>
        <p:spPr>
          <a:xfrm>
            <a:off x="3410712" y="298094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8"/>
          <p:cNvSpPr/>
          <p:nvPr/>
        </p:nvSpPr>
        <p:spPr>
          <a:xfrm>
            <a:off x="3703320" y="2944368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Browse &amp; accept jobs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8"/>
          <p:cNvSpPr/>
          <p:nvPr/>
        </p:nvSpPr>
        <p:spPr>
          <a:xfrm>
            <a:off x="3410712" y="3419856"/>
            <a:ext cx="219456" cy="219456"/>
          </a:xfrm>
          <a:prstGeom prst="ellipse">
            <a:avLst/>
          </a:prstGeom>
          <a:solidFill>
            <a:srgbClr val="0F6E56"/>
          </a:solidFill>
          <a:ln cap="flat" cmpd="sng" w="12700">
            <a:solidFill>
              <a:srgbClr val="0F6E5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8"/>
          <p:cNvSpPr/>
          <p:nvPr/>
        </p:nvSpPr>
        <p:spPr>
          <a:xfrm>
            <a:off x="3410712" y="341985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8"/>
          <p:cNvSpPr/>
          <p:nvPr/>
        </p:nvSpPr>
        <p:spPr>
          <a:xfrm>
            <a:off x="3703320" y="3383280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Complete &amp; earn rating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8"/>
          <p:cNvSpPr/>
          <p:nvPr/>
        </p:nvSpPr>
        <p:spPr>
          <a:xfrm>
            <a:off x="6217920" y="1005840"/>
            <a:ext cx="2788920" cy="3657600"/>
          </a:xfrm>
          <a:prstGeom prst="rect">
            <a:avLst/>
          </a:prstGeom>
          <a:solidFill>
            <a:srgbClr val="142E8A"/>
          </a:solidFill>
          <a:ln cap="flat" cmpd="sng" w="9525">
            <a:solidFill>
              <a:srgbClr val="2A4F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8"/>
          <p:cNvSpPr/>
          <p:nvPr/>
        </p:nvSpPr>
        <p:spPr>
          <a:xfrm>
            <a:off x="6217920" y="1005840"/>
            <a:ext cx="2788920" cy="502920"/>
          </a:xfrm>
          <a:prstGeom prst="rect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8"/>
          <p:cNvSpPr/>
          <p:nvPr/>
        </p:nvSpPr>
        <p:spPr>
          <a:xfrm>
            <a:off x="6327648" y="1097280"/>
            <a:ext cx="347472" cy="347472"/>
          </a:xfrm>
          <a:prstGeom prst="ellipse">
            <a:avLst/>
          </a:prstGeom>
          <a:solidFill>
            <a:srgbClr val="EEEDFE"/>
          </a:solidFill>
          <a:ln cap="flat" cmpd="sng" w="12700">
            <a:solidFill>
              <a:srgbClr val="EEEDF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48"/>
          <p:cNvSpPr/>
          <p:nvPr/>
        </p:nvSpPr>
        <p:spPr>
          <a:xfrm>
            <a:off x="6327648" y="1097280"/>
            <a:ext cx="3474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👷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8"/>
          <p:cNvSpPr/>
          <p:nvPr/>
        </p:nvSpPr>
        <p:spPr>
          <a:xfrm>
            <a:off x="6748272" y="1078992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Junior / Apprentice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8"/>
          <p:cNvSpPr/>
          <p:nvPr/>
        </p:nvSpPr>
        <p:spPr>
          <a:xfrm>
            <a:off x="6382512" y="1664208"/>
            <a:ext cx="219456" cy="219456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8"/>
          <p:cNvSpPr/>
          <p:nvPr/>
        </p:nvSpPr>
        <p:spPr>
          <a:xfrm>
            <a:off x="6382512" y="1664208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8"/>
          <p:cNvSpPr/>
          <p:nvPr/>
        </p:nvSpPr>
        <p:spPr>
          <a:xfrm>
            <a:off x="6675120" y="1627632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Open app &amp; select role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8"/>
          <p:cNvSpPr/>
          <p:nvPr/>
        </p:nvSpPr>
        <p:spPr>
          <a:xfrm>
            <a:off x="6382512" y="2103120"/>
            <a:ext cx="219456" cy="219456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48"/>
          <p:cNvSpPr/>
          <p:nvPr/>
        </p:nvSpPr>
        <p:spPr>
          <a:xfrm>
            <a:off x="6382512" y="2103120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8"/>
          <p:cNvSpPr/>
          <p:nvPr/>
        </p:nvSpPr>
        <p:spPr>
          <a:xfrm>
            <a:off x="6675120" y="2066544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Upload training docs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8"/>
          <p:cNvSpPr/>
          <p:nvPr/>
        </p:nvSpPr>
        <p:spPr>
          <a:xfrm>
            <a:off x="6382512" y="2542032"/>
            <a:ext cx="219456" cy="219456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8"/>
          <p:cNvSpPr/>
          <p:nvPr/>
        </p:nvSpPr>
        <p:spPr>
          <a:xfrm>
            <a:off x="6382512" y="254203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8"/>
          <p:cNvSpPr/>
          <p:nvPr/>
        </p:nvSpPr>
        <p:spPr>
          <a:xfrm>
            <a:off x="6675120" y="2505456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Get senior endorsement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8"/>
          <p:cNvSpPr/>
          <p:nvPr/>
        </p:nvSpPr>
        <p:spPr>
          <a:xfrm>
            <a:off x="6382512" y="2980944"/>
            <a:ext cx="219456" cy="219456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8"/>
          <p:cNvSpPr/>
          <p:nvPr/>
        </p:nvSpPr>
        <p:spPr>
          <a:xfrm>
            <a:off x="6382512" y="2980944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8"/>
          <p:cNvSpPr/>
          <p:nvPr/>
        </p:nvSpPr>
        <p:spPr>
          <a:xfrm>
            <a:off x="6675120" y="2944368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Accept within job cap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8"/>
          <p:cNvSpPr/>
          <p:nvPr/>
        </p:nvSpPr>
        <p:spPr>
          <a:xfrm>
            <a:off x="6382512" y="3419856"/>
            <a:ext cx="219456" cy="219456"/>
          </a:xfrm>
          <a:prstGeom prst="ellipse">
            <a:avLst/>
          </a:prstGeom>
          <a:solidFill>
            <a:srgbClr val="534AB7"/>
          </a:solidFill>
          <a:ln cap="flat" cmpd="sng" w="12700">
            <a:solidFill>
              <a:srgbClr val="534A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48"/>
          <p:cNvSpPr/>
          <p:nvPr/>
        </p:nvSpPr>
        <p:spPr>
          <a:xfrm>
            <a:off x="6382512" y="3419856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8"/>
          <p:cNvSpPr/>
          <p:nvPr/>
        </p:nvSpPr>
        <p:spPr>
          <a:xfrm>
            <a:off x="6675120" y="3383280"/>
            <a:ext cx="2240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5D4F4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B5D4F4"/>
                </a:solidFill>
                <a:latin typeface="Calibri"/>
                <a:ea typeface="Calibri"/>
                <a:cs typeface="Calibri"/>
                <a:sym typeface="Calibri"/>
              </a:rPr>
              <a:t>Level up over time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8"/>
          <p:cNvSpPr/>
          <p:nvPr/>
        </p:nvSpPr>
        <p:spPr>
          <a:xfrm>
            <a:off x="0" y="4818888"/>
            <a:ext cx="9144000" cy="320040"/>
          </a:xfrm>
          <a:prstGeom prst="rect">
            <a:avLst/>
          </a:prstGeom>
          <a:solidFill>
            <a:srgbClr val="0D1F6E"/>
          </a:solidFill>
          <a:ln cap="flat" cmpd="sng" w="12700">
            <a:solidFill>
              <a:srgbClr val="0D1F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48"/>
          <p:cNvSpPr/>
          <p:nvPr/>
        </p:nvSpPr>
        <p:spPr>
          <a:xfrm>
            <a:off x="457200" y="48280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DB5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4A6DB5"/>
                </a:solidFill>
                <a:latin typeface="Calibri"/>
                <a:ea typeface="Calibri"/>
                <a:cs typeface="Calibri"/>
                <a:sym typeface="Calibri"/>
              </a:rPr>
              <a:t>TradeConnect  ·  Skilled trades platform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2813" y="813675"/>
            <a:ext cx="6058387" cy="4329824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9"/>
          <p:cNvSpPr/>
          <p:nvPr/>
        </p:nvSpPr>
        <p:spPr>
          <a:xfrm>
            <a:off x="457200" y="18288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alibri"/>
              <a:buNone/>
            </a:pPr>
            <a:r>
              <a:rPr b="1" lang="en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Data Model</a:t>
            </a:r>
            <a:endParaRPr b="1" sz="2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F6E"/>
        </a:solidFill>
      </p:bgPr>
    </p:bg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0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50"/>
          <p:cNvSpPr/>
          <p:nvPr/>
        </p:nvSpPr>
        <p:spPr>
          <a:xfrm>
            <a:off x="457200" y="28813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Stack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50"/>
          <p:cNvSpPr/>
          <p:nvPr/>
        </p:nvSpPr>
        <p:spPr>
          <a:xfrm>
            <a:off x="182880" y="1005840"/>
            <a:ext cx="1097400" cy="658500"/>
          </a:xfrm>
          <a:prstGeom prst="rect">
            <a:avLst/>
          </a:prstGeom>
          <a:solidFill>
            <a:srgbClr val="1450A8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50"/>
          <p:cNvSpPr/>
          <p:nvPr/>
        </p:nvSpPr>
        <p:spPr>
          <a:xfrm>
            <a:off x="182880" y="1005840"/>
            <a:ext cx="1097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50"/>
          <p:cNvSpPr/>
          <p:nvPr/>
        </p:nvSpPr>
        <p:spPr>
          <a:xfrm>
            <a:off x="1280160" y="1005840"/>
            <a:ext cx="7680900" cy="658500"/>
          </a:xfrm>
          <a:prstGeom prst="rect">
            <a:avLst/>
          </a:prstGeom>
          <a:solidFill>
            <a:srgbClr val="1450A8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50"/>
          <p:cNvSpPr/>
          <p:nvPr/>
        </p:nvSpPr>
        <p:spPr>
          <a:xfrm>
            <a:off x="1417320" y="1051560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Next.js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50"/>
          <p:cNvSpPr/>
          <p:nvPr/>
        </p:nvSpPr>
        <p:spPr>
          <a:xfrm>
            <a:off x="1417320" y="1280160"/>
            <a:ext cx="4572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React-based framework · Server-side rendering · Clean UI components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50"/>
          <p:cNvSpPr/>
          <p:nvPr/>
        </p:nvSpPr>
        <p:spPr>
          <a:xfrm>
            <a:off x="182880" y="1773936"/>
            <a:ext cx="1097400" cy="658500"/>
          </a:xfrm>
          <a:prstGeom prst="rect">
            <a:avLst/>
          </a:prstGeom>
          <a:solidFill>
            <a:srgbClr val="0D3D7A"/>
          </a:solidFill>
          <a:ln cap="flat" cmpd="sng" w="12700">
            <a:solidFill>
              <a:srgbClr val="7CB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50"/>
          <p:cNvSpPr/>
          <p:nvPr/>
        </p:nvSpPr>
        <p:spPr>
          <a:xfrm>
            <a:off x="182880" y="1773936"/>
            <a:ext cx="1097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CB4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7CB4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50"/>
          <p:cNvSpPr/>
          <p:nvPr/>
        </p:nvSpPr>
        <p:spPr>
          <a:xfrm>
            <a:off x="1280160" y="1773936"/>
            <a:ext cx="7680900" cy="658500"/>
          </a:xfrm>
          <a:prstGeom prst="rect">
            <a:avLst/>
          </a:prstGeom>
          <a:solidFill>
            <a:srgbClr val="0D3D7A"/>
          </a:solidFill>
          <a:ln cap="flat" cmpd="sng" w="12700">
            <a:solidFill>
              <a:srgbClr val="7CB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50"/>
          <p:cNvSpPr/>
          <p:nvPr/>
        </p:nvSpPr>
        <p:spPr>
          <a:xfrm>
            <a:off x="1417320" y="1819656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(Flask / FastAPI)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50"/>
          <p:cNvSpPr/>
          <p:nvPr/>
        </p:nvSpPr>
        <p:spPr>
          <a:xfrm>
            <a:off x="1417320" y="2048256"/>
            <a:ext cx="4572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RESTful API · Simple routing · Easy to debug for beginners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50"/>
          <p:cNvSpPr/>
          <p:nvPr/>
        </p:nvSpPr>
        <p:spPr>
          <a:xfrm>
            <a:off x="182880" y="2542032"/>
            <a:ext cx="1097400" cy="658500"/>
          </a:xfrm>
          <a:prstGeom prst="rect">
            <a:avLst/>
          </a:prstGeom>
          <a:solidFill>
            <a:srgbClr val="0A2A5E"/>
          </a:solidFill>
          <a:ln cap="flat" cmpd="sng" w="12700">
            <a:solidFill>
              <a:srgbClr val="B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50"/>
          <p:cNvSpPr/>
          <p:nvPr/>
        </p:nvSpPr>
        <p:spPr>
          <a:xfrm>
            <a:off x="182880" y="2542032"/>
            <a:ext cx="1097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D8D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BD8DFF"/>
                </a:solidFill>
                <a:latin typeface="Calibri"/>
                <a:ea typeface="Calibri"/>
                <a:cs typeface="Calibri"/>
                <a:sym typeface="Calibri"/>
              </a:rPr>
              <a:t>Database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50"/>
          <p:cNvSpPr/>
          <p:nvPr/>
        </p:nvSpPr>
        <p:spPr>
          <a:xfrm>
            <a:off x="1280160" y="2542032"/>
            <a:ext cx="7680900" cy="658500"/>
          </a:xfrm>
          <a:prstGeom prst="rect">
            <a:avLst/>
          </a:prstGeom>
          <a:solidFill>
            <a:srgbClr val="0A2A5E"/>
          </a:solidFill>
          <a:ln cap="flat" cmpd="sng" w="12700">
            <a:solidFill>
              <a:srgbClr val="B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50"/>
          <p:cNvSpPr/>
          <p:nvPr/>
        </p:nvSpPr>
        <p:spPr>
          <a:xfrm>
            <a:off x="1417320" y="2587752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MySQL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50"/>
          <p:cNvSpPr/>
          <p:nvPr/>
        </p:nvSpPr>
        <p:spPr>
          <a:xfrm>
            <a:off x="1417320" y="2816352"/>
            <a:ext cx="4572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Relational DB · Native connectors only — NO ORM · Full SQL control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50"/>
          <p:cNvSpPr/>
          <p:nvPr/>
        </p:nvSpPr>
        <p:spPr>
          <a:xfrm>
            <a:off x="182880" y="3310128"/>
            <a:ext cx="1097400" cy="658500"/>
          </a:xfrm>
          <a:prstGeom prst="rect">
            <a:avLst/>
          </a:prstGeom>
          <a:solidFill>
            <a:srgbClr val="071E44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0"/>
          <p:cNvSpPr/>
          <p:nvPr/>
        </p:nvSpPr>
        <p:spPr>
          <a:xfrm>
            <a:off x="182880" y="3310128"/>
            <a:ext cx="1097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FC3F7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4FC3F7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50"/>
          <p:cNvSpPr/>
          <p:nvPr/>
        </p:nvSpPr>
        <p:spPr>
          <a:xfrm>
            <a:off x="1280160" y="3310128"/>
            <a:ext cx="7680900" cy="658500"/>
          </a:xfrm>
          <a:prstGeom prst="rect">
            <a:avLst/>
          </a:prstGeom>
          <a:solidFill>
            <a:srgbClr val="071E44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50"/>
          <p:cNvSpPr/>
          <p:nvPr/>
        </p:nvSpPr>
        <p:spPr>
          <a:xfrm>
            <a:off x="1417320" y="3355848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Render.com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0"/>
          <p:cNvSpPr/>
          <p:nvPr/>
        </p:nvSpPr>
        <p:spPr>
          <a:xfrm>
            <a:off x="1417320" y="3584448"/>
            <a:ext cx="4572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Backend + frontend deployment · Free tier available · Docker-ready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50"/>
          <p:cNvSpPr/>
          <p:nvPr/>
        </p:nvSpPr>
        <p:spPr>
          <a:xfrm>
            <a:off x="182880" y="4078224"/>
            <a:ext cx="1097400" cy="658500"/>
          </a:xfrm>
          <a:prstGeom prst="rect">
            <a:avLst/>
          </a:prstGeom>
          <a:solidFill>
            <a:srgbClr val="050F2A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50"/>
          <p:cNvSpPr/>
          <p:nvPr/>
        </p:nvSpPr>
        <p:spPr>
          <a:xfrm>
            <a:off x="182880" y="4078224"/>
            <a:ext cx="10974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700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D700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50"/>
          <p:cNvSpPr/>
          <p:nvPr/>
        </p:nvSpPr>
        <p:spPr>
          <a:xfrm>
            <a:off x="1280160" y="4078224"/>
            <a:ext cx="7680900" cy="658500"/>
          </a:xfrm>
          <a:prstGeom prst="rect">
            <a:avLst/>
          </a:prstGeom>
          <a:solidFill>
            <a:srgbClr val="050F2A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50"/>
          <p:cNvSpPr/>
          <p:nvPr/>
        </p:nvSpPr>
        <p:spPr>
          <a:xfrm>
            <a:off x="1417320" y="4123944"/>
            <a:ext cx="45720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Tableau + Excel Export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0"/>
          <p:cNvSpPr/>
          <p:nvPr/>
        </p:nvSpPr>
        <p:spPr>
          <a:xfrm>
            <a:off x="1417320" y="4352544"/>
            <a:ext cx="45720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EFF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EEFF"/>
                </a:solidFill>
                <a:latin typeface="Calibri"/>
                <a:ea typeface="Calibri"/>
                <a:cs typeface="Calibri"/>
                <a:sym typeface="Calibri"/>
              </a:rPr>
              <a:t>Revenue dashboards · One-click Excel export · BI analytics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0"/>
          <p:cNvSpPr/>
          <p:nvPr/>
        </p:nvSpPr>
        <p:spPr>
          <a:xfrm>
            <a:off x="0" y="4937760"/>
            <a:ext cx="914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TradeConnect · Skilled trades platform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F6E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51"/>
          <p:cNvSpPr/>
          <p:nvPr/>
        </p:nvSpPr>
        <p:spPr>
          <a:xfrm>
            <a:off x="0" y="0"/>
            <a:ext cx="9144000" cy="732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51"/>
          <p:cNvSpPr/>
          <p:nvPr/>
        </p:nvSpPr>
        <p:spPr>
          <a:xfrm>
            <a:off x="457200" y="288135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Member Roles</a:t>
            </a:r>
            <a:endParaRPr b="0" i="0" sz="3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51"/>
          <p:cNvSpPr/>
          <p:nvPr/>
        </p:nvSpPr>
        <p:spPr>
          <a:xfrm>
            <a:off x="182880" y="1005840"/>
            <a:ext cx="1627500" cy="3566100"/>
          </a:xfrm>
          <a:prstGeom prst="rect">
            <a:avLst/>
          </a:prstGeom>
          <a:solidFill>
            <a:srgbClr val="1A3BBF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51"/>
          <p:cNvSpPr/>
          <p:nvPr/>
        </p:nvSpPr>
        <p:spPr>
          <a:xfrm>
            <a:off x="182880" y="1005840"/>
            <a:ext cx="1627500" cy="732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51"/>
          <p:cNvSpPr/>
          <p:nvPr/>
        </p:nvSpPr>
        <p:spPr>
          <a:xfrm>
            <a:off x="255925" y="1143051"/>
            <a:ext cx="1481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Olivier P Israel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51"/>
          <p:cNvSpPr/>
          <p:nvPr/>
        </p:nvSpPr>
        <p:spPr>
          <a:xfrm>
            <a:off x="1874520" y="1005840"/>
            <a:ext cx="1627500" cy="3566100"/>
          </a:xfrm>
          <a:prstGeom prst="rect">
            <a:avLst/>
          </a:prstGeom>
          <a:solidFill>
            <a:srgbClr val="0F5F8F"/>
          </a:solidFill>
          <a:ln cap="flat" cmpd="sng" w="12700">
            <a:solidFill>
              <a:srgbClr val="7CB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53" name="Google Shape;553;p51"/>
          <p:cNvSpPr/>
          <p:nvPr/>
        </p:nvSpPr>
        <p:spPr>
          <a:xfrm>
            <a:off x="1874520" y="1005840"/>
            <a:ext cx="1627500" cy="73200"/>
          </a:xfrm>
          <a:prstGeom prst="rect">
            <a:avLst/>
          </a:prstGeom>
          <a:solidFill>
            <a:srgbClr val="7CB4FF"/>
          </a:solidFill>
          <a:ln cap="flat" cmpd="sng" w="12700">
            <a:solidFill>
              <a:srgbClr val="7CB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51"/>
          <p:cNvSpPr/>
          <p:nvPr/>
        </p:nvSpPr>
        <p:spPr>
          <a:xfrm>
            <a:off x="1947560" y="1143066"/>
            <a:ext cx="148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Md Hasan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51"/>
          <p:cNvSpPr/>
          <p:nvPr/>
        </p:nvSpPr>
        <p:spPr>
          <a:xfrm>
            <a:off x="3566160" y="1005840"/>
            <a:ext cx="1627500" cy="3566100"/>
          </a:xfrm>
          <a:prstGeom prst="rect">
            <a:avLst/>
          </a:prstGeom>
          <a:solidFill>
            <a:srgbClr val="3B1FA8"/>
          </a:solidFill>
          <a:ln cap="flat" cmpd="sng" w="12700">
            <a:solidFill>
              <a:srgbClr val="B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D8DFF"/>
                </a:solidFill>
              </a:rPr>
              <a:t>&gt; API Development</a:t>
            </a:r>
            <a:endParaRPr sz="1200">
              <a:solidFill>
                <a:srgbClr val="BD8D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D8DFF"/>
                </a:solidFill>
              </a:rPr>
              <a:t>&gt; Security</a:t>
            </a:r>
            <a:endParaRPr sz="1200">
              <a:solidFill>
                <a:srgbClr val="BD8D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D8DFF"/>
                </a:solidFill>
              </a:rPr>
              <a:t>&gt; Authentication</a:t>
            </a:r>
            <a:endParaRPr sz="1200">
              <a:solidFill>
                <a:srgbClr val="BD8D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D8DFF"/>
                </a:solidFill>
              </a:rPr>
              <a:t>&gt; Server Logic</a:t>
            </a:r>
            <a:endParaRPr sz="1200">
              <a:solidFill>
                <a:srgbClr val="BD8D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D8DFF"/>
                </a:solidFill>
              </a:rPr>
              <a:t>&gt; Performance Optimization</a:t>
            </a:r>
            <a:endParaRPr sz="1200">
              <a:solidFill>
                <a:srgbClr val="BD8DFF"/>
              </a:solidFill>
            </a:endParaRPr>
          </a:p>
        </p:txBody>
      </p:sp>
      <p:sp>
        <p:nvSpPr>
          <p:cNvPr id="556" name="Google Shape;556;p51"/>
          <p:cNvSpPr/>
          <p:nvPr/>
        </p:nvSpPr>
        <p:spPr>
          <a:xfrm>
            <a:off x="3566160" y="1005840"/>
            <a:ext cx="1627500" cy="73200"/>
          </a:xfrm>
          <a:prstGeom prst="rect">
            <a:avLst/>
          </a:prstGeom>
          <a:solidFill>
            <a:srgbClr val="BD8DFF"/>
          </a:solidFill>
          <a:ln cap="flat" cmpd="sng" w="12700">
            <a:solidFill>
              <a:srgbClr val="BD8D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51"/>
          <p:cNvSpPr/>
          <p:nvPr/>
        </p:nvSpPr>
        <p:spPr>
          <a:xfrm>
            <a:off x="3639225" y="1143078"/>
            <a:ext cx="148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Aung Latt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51"/>
          <p:cNvSpPr/>
          <p:nvPr/>
        </p:nvSpPr>
        <p:spPr>
          <a:xfrm>
            <a:off x="5257800" y="1005840"/>
            <a:ext cx="1627500" cy="3566100"/>
          </a:xfrm>
          <a:prstGeom prst="rect">
            <a:avLst/>
          </a:prstGeom>
          <a:solidFill>
            <a:srgbClr val="0A2A5E"/>
          </a:solidFill>
          <a:ln cap="flat" cmpd="sng" w="127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FFFF"/>
                </a:solidFill>
              </a:rPr>
              <a:t>&gt; Team Lead</a:t>
            </a:r>
            <a:endParaRPr sz="12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FFFF"/>
                </a:solidFill>
              </a:rPr>
              <a:t>&gt; Deployment</a:t>
            </a:r>
            <a:endParaRPr sz="12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FFFF"/>
                </a:solidFill>
              </a:rPr>
              <a:t>&gt; Integration</a:t>
            </a:r>
            <a:br>
              <a:rPr lang="en" sz="1200">
                <a:solidFill>
                  <a:srgbClr val="00FFFF"/>
                </a:solidFill>
              </a:rPr>
            </a:br>
            <a:r>
              <a:rPr lang="en" sz="1200">
                <a:solidFill>
                  <a:srgbClr val="00FFFF"/>
                </a:solidFill>
              </a:rPr>
              <a:t>&gt; Backend Assist</a:t>
            </a:r>
            <a:endParaRPr sz="12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FFFF"/>
                </a:solidFill>
              </a:rPr>
              <a:t>&gt; Database Assist</a:t>
            </a:r>
            <a:endParaRPr sz="1200">
              <a:solidFill>
                <a:srgbClr val="00FF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FFFF"/>
                </a:solidFill>
              </a:rPr>
              <a:t>&gt; Frontend Assist</a:t>
            </a:r>
            <a:endParaRPr sz="1200">
              <a:solidFill>
                <a:srgbClr val="00FFFF"/>
              </a:solidFill>
            </a:endParaRPr>
          </a:p>
        </p:txBody>
      </p:sp>
      <p:sp>
        <p:nvSpPr>
          <p:cNvPr id="559" name="Google Shape;559;p51"/>
          <p:cNvSpPr/>
          <p:nvPr/>
        </p:nvSpPr>
        <p:spPr>
          <a:xfrm>
            <a:off x="5257800" y="1005840"/>
            <a:ext cx="1627500" cy="73200"/>
          </a:xfrm>
          <a:prstGeom prst="rect">
            <a:avLst/>
          </a:prstGeom>
          <a:solidFill>
            <a:srgbClr val="4FC3F7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51"/>
          <p:cNvSpPr/>
          <p:nvPr/>
        </p:nvSpPr>
        <p:spPr>
          <a:xfrm>
            <a:off x="5330852" y="1143066"/>
            <a:ext cx="148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Nathan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51"/>
          <p:cNvSpPr/>
          <p:nvPr/>
        </p:nvSpPr>
        <p:spPr>
          <a:xfrm>
            <a:off x="6949440" y="1005840"/>
            <a:ext cx="1627500" cy="3566100"/>
          </a:xfrm>
          <a:prstGeom prst="rect">
            <a:avLst/>
          </a:prstGeom>
          <a:solidFill>
            <a:srgbClr val="071E44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&gt; User Interface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&gt;User Experience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&gt; Responsive Design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&gt; Dynamic Interaction</a:t>
            </a:r>
            <a:endParaRPr sz="1200">
              <a:solidFill>
                <a:schemeClr val="accent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4"/>
                </a:solidFill>
              </a:rPr>
              <a:t>&gt; State Management</a:t>
            </a:r>
            <a:endParaRPr sz="1200">
              <a:solidFill>
                <a:schemeClr val="accent4"/>
              </a:solidFill>
            </a:endParaRPr>
          </a:p>
        </p:txBody>
      </p:sp>
      <p:sp>
        <p:nvSpPr>
          <p:cNvPr id="562" name="Google Shape;562;p51"/>
          <p:cNvSpPr/>
          <p:nvPr/>
        </p:nvSpPr>
        <p:spPr>
          <a:xfrm>
            <a:off x="6949440" y="1005840"/>
            <a:ext cx="1627500" cy="73200"/>
          </a:xfrm>
          <a:prstGeom prst="rect">
            <a:avLst/>
          </a:prstGeom>
          <a:solidFill>
            <a:srgbClr val="FFD700"/>
          </a:solidFill>
          <a:ln cap="flat" cmpd="sng" w="12700">
            <a:solidFill>
              <a:srgbClr val="FFD7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51"/>
          <p:cNvSpPr/>
          <p:nvPr/>
        </p:nvSpPr>
        <p:spPr>
          <a:xfrm>
            <a:off x="7022592" y="1143066"/>
            <a:ext cx="14814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Dario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51"/>
          <p:cNvSpPr/>
          <p:nvPr/>
        </p:nvSpPr>
        <p:spPr>
          <a:xfrm>
            <a:off x="274320" y="4736592"/>
            <a:ext cx="85953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Note: Roles are flexible — members may share responsibilities across areas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51"/>
          <p:cNvSpPr/>
          <p:nvPr/>
        </p:nvSpPr>
        <p:spPr>
          <a:xfrm>
            <a:off x="0" y="4937760"/>
            <a:ext cx="91440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CC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9CC"/>
                </a:solidFill>
                <a:latin typeface="Calibri"/>
                <a:ea typeface="Calibri"/>
                <a:cs typeface="Calibri"/>
                <a:sym typeface="Calibri"/>
              </a:rPr>
              <a:t>TradeConnect · Skilled trades platform</a:t>
            </a:r>
            <a:endParaRPr b="0" i="0" sz="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51"/>
          <p:cNvSpPr txBox="1"/>
          <p:nvPr/>
        </p:nvSpPr>
        <p:spPr>
          <a:xfrm>
            <a:off x="1933325" y="1588350"/>
            <a:ext cx="1481400" cy="2797200"/>
          </a:xfrm>
          <a:prstGeom prst="rect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00"/>
                </a:solidFill>
              </a:rPr>
              <a:t>&gt; Design MySQL database structure</a:t>
            </a:r>
            <a:endParaRPr sz="12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00"/>
                </a:solidFill>
              </a:rPr>
              <a:t>&gt;Create normalized tables (2NF)</a:t>
            </a:r>
            <a:endParaRPr sz="12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00"/>
                </a:solidFill>
              </a:rPr>
              <a:t>&gt;Write SQL queries for data operations</a:t>
            </a:r>
            <a:endParaRPr sz="12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00"/>
                </a:solidFill>
              </a:rPr>
              <a:t>&gt;Assist with database integration</a:t>
            </a:r>
            <a:endParaRPr sz="1200">
              <a:solidFill>
                <a:srgbClr val="FF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567" name="Google Shape;567;p51"/>
          <p:cNvSpPr/>
          <p:nvPr/>
        </p:nvSpPr>
        <p:spPr>
          <a:xfrm>
            <a:off x="274325" y="1588350"/>
            <a:ext cx="1233000" cy="2797200"/>
          </a:xfrm>
          <a:prstGeom prst="rect">
            <a:avLst/>
          </a:prstGeom>
          <a:solidFill>
            <a:srgbClr val="1A3BBF"/>
          </a:solidFill>
          <a:ln cap="flat" cmpd="sng" w="12700">
            <a:solidFill>
              <a:srgbClr val="4FC3F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D8D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D8D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BD8DF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FF00"/>
                </a:solidFill>
              </a:rPr>
              <a:t>&gt; </a:t>
            </a:r>
            <a:r>
              <a:rPr lang="en" sz="1100">
                <a:solidFill>
                  <a:srgbClr val="00FF00"/>
                </a:solidFill>
              </a:rPr>
              <a:t>Django Rest </a:t>
            </a:r>
            <a:r>
              <a:rPr lang="en" sz="1100">
                <a:solidFill>
                  <a:srgbClr val="00FF00"/>
                </a:solidFill>
              </a:rPr>
              <a:t>framework</a:t>
            </a:r>
            <a:endParaRPr sz="11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FF00"/>
                </a:solidFill>
              </a:rPr>
              <a:t>&gt; Create login page</a:t>
            </a:r>
            <a:endParaRPr sz="12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FF00"/>
                </a:solidFill>
              </a:rPr>
              <a:t>&gt; Develop the ratings and reviews.</a:t>
            </a:r>
            <a:endParaRPr sz="12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FF00"/>
                </a:solidFill>
              </a:rPr>
              <a:t>&gt; Implement a notification service.</a:t>
            </a:r>
            <a:endParaRPr sz="1200">
              <a:solidFill>
                <a:srgbClr val="00FF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F6E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2"/>
          <p:cNvSpPr/>
          <p:nvPr/>
        </p:nvSpPr>
        <p:spPr>
          <a:xfrm>
            <a:off x="2249600" y="663775"/>
            <a:ext cx="4044600" cy="3805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Q&amp;A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">
  <a:themeElements>
    <a:clrScheme name="Simple Light">
      <a:dk1>
        <a:srgbClr val="1A36B4"/>
      </a:dk1>
      <a:lt1>
        <a:srgbClr val="F6F5EC"/>
      </a:lt1>
      <a:dk2>
        <a:srgbClr val="1D1D1D"/>
      </a:dk2>
      <a:lt2>
        <a:srgbClr val="A4C2F4"/>
      </a:lt2>
      <a:accent1>
        <a:srgbClr val="FFFFFF"/>
      </a:accent1>
      <a:accent2>
        <a:srgbClr val="1A36B4"/>
      </a:accent2>
      <a:accent3>
        <a:srgbClr val="1D1D1D"/>
      </a:accent3>
      <a:accent4>
        <a:srgbClr val="F6F5EC"/>
      </a:accent4>
      <a:accent5>
        <a:srgbClr val="1A36B4"/>
      </a:accent5>
      <a:accent6>
        <a:srgbClr val="595959"/>
      </a:accent6>
      <a:hlink>
        <a:srgbClr val="A4C2F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